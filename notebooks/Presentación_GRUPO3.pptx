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2" r:id="rId4"/>
    <p:sldMasterId id="2147483686" r:id="rId5"/>
    <p:sldMasterId id="2147483710" r:id="rId6"/>
    <p:sldMasterId id="2147483736" r:id="rId7"/>
    <p:sldMasterId id="2147483760" r:id="rId8"/>
    <p:sldMasterId id="2147483784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y="10287000" cx="18288000"/>
  <p:notesSz cx="6858000" cy="9144000"/>
  <p:embeddedFontLst>
    <p:embeddedFont>
      <p:font typeface="Inter"/>
      <p:bold r:id="rId28"/>
      <p:boldItalic r:id="rId29"/>
    </p:embeddedFont>
    <p:embeddedFont>
      <p:font typeface="League Gothic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R4Umovd8WKkVPuy6Hz/SqzyC2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font" Target="fonts/Inter-bold.fntdata"/><Relationship Id="rId27" Type="http://schemas.openxmlformats.org/officeDocument/2006/relationships/slide" Target="slides/slide17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font" Target="fonts/Inter-boldItalic.fntdata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customschemas.google.com/relationships/presentationmetadata" Target="metadata"/><Relationship Id="rId30" Type="http://schemas.openxmlformats.org/officeDocument/2006/relationships/font" Target="fonts/LeagueGothic-regular.fntdata"/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a8bca059f7_0_4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g3a8bca059f7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e526bdcfb6_47_1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3" name="Google Shape;543;g3e526bdcfb6_47_1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e5283b25c0_0_13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3" name="Google Shape;573;g3e5283b25c0_0_134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a8bca059f7_0_8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5" name="Google Shape;605;g3a8bca059f7_0_8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e5283b25c0_0_19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0" name="Google Shape;630;g3e5283b25c0_0_194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e5283b25c0_0_1728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5" name="Google Shape;655;g3e5283b25c0_0_172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656" name="Google Shape;656;g3e5283b25c0_0_172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e5283b25c0_0_1658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3" name="Google Shape;693;g3e5283b25c0_0_165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694" name="Google Shape;694;g3e5283b25c0_0_165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e5283b25c0_0_186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7" name="Google Shape;737;g3e5283b25c0_0_186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738" name="Google Shape;738;g3e5283b25c0_0_186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e5283b25c0_385_20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g3e5283b25c0_385_2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e5283b25c0_0_139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g3e5283b25c0_0_139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e5283b25c0_0_100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g3e5283b25c0_0_10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e5283b25c0_0_194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g3e5283b25c0_0_19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a8bca059f7_0_7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g3a8bca059f7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e5283b25c0_419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4" name="Google Shape;894;g3e5283b25c0_419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895" name="Google Shape;895;g3e5283b25c0_419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e4ef061aa1_0_10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3" name="Google Shape;903;g3e4ef061aa1_0_10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904" name="Google Shape;904;g3e4ef061aa1_0_10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a8bca059f7_0_16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3" name="Google Shape;913;g3a8bca059f7_0_16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914" name="Google Shape;914;g3a8bca059f7_0_16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a8bca059f7_0_30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0" name="Google Shape;940;g3a8bca059f7_0_3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941" name="Google Shape;941;g3a8bca059f7_0_3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e4ef061aa1_0_148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g3e4ef061aa1_0_148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g3e4ef061aa1_0_14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4ef061aa1_0_18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g3e4ef061aa1_0_187"/>
          <p:cNvSpPr/>
          <p:nvPr/>
        </p:nvSpPr>
        <p:spPr>
          <a:xfrm>
            <a:off x="-30525" y="-72350"/>
            <a:ext cx="140400" cy="10359300"/>
          </a:xfrm>
          <a:prstGeom prst="rect">
            <a:avLst/>
          </a:prstGeom>
          <a:solidFill>
            <a:srgbClr val="A855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" name="Google Shape;16;g3e4ef061aa1_0_187"/>
          <p:cNvCxnSpPr/>
          <p:nvPr/>
        </p:nvCxnSpPr>
        <p:spPr>
          <a:xfrm flipH="1" rot="10800000">
            <a:off x="257958" y="1101353"/>
            <a:ext cx="13225200" cy="5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g3e4ef061aa1_0_187"/>
          <p:cNvSpPr txBox="1"/>
          <p:nvPr/>
        </p:nvSpPr>
        <p:spPr>
          <a:xfrm>
            <a:off x="573950" y="512875"/>
            <a:ext cx="26559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NovaPay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g3e4ef061aa1_0_187"/>
          <p:cNvSpPr txBox="1"/>
          <p:nvPr/>
        </p:nvSpPr>
        <p:spPr>
          <a:xfrm>
            <a:off x="2588875" y="586150"/>
            <a:ext cx="6704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Detect, Predict, Protect</a:t>
            </a:r>
            <a:endParaRPr b="0" i="0" sz="16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4ef061aa1_0_152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1" name="Google Shape;21;g3e4ef061aa1_0_15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e4ef061aa1_0_15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4" name="Google Shape;24;g3e4ef061aa1_0_155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5" name="Google Shape;25;g3e4ef061aa1_0_15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e4ef061aa1_0_15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8" name="Google Shape;28;g3e4ef061aa1_0_159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9" name="Google Shape;29;g3e4ef061aa1_0_159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" name="Google Shape;30;g3e4ef061aa1_0_15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e4ef061aa1_0_16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3" name="Google Shape;33;g3e4ef061aa1_0_16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e4ef061aa1_0_16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g3e4ef061aa1_0_16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7" name="Google Shape;37;g3e4ef061aa1_0_16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e4ef061aa1_0_171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40" name="Google Shape;40;g3e4ef061aa1_0_17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e4ef061aa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e4ef061aa1_0_174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44" name="Google Shape;44;g3e4ef061aa1_0_174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g3e4ef061aa1_0_174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6" name="Google Shape;46;g3e4ef061aa1_0_17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e4ef061aa1_0_18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9" name="Google Shape;49;g3e4ef061aa1_0_18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4ef061aa1_0_183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e4ef061aa1_0_183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53" name="Google Shape;53;g3e4ef061aa1_0_18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(g3e526bdcfb6_43_0)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4ef061aa1_0_18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g3e4ef061aa1_0_18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3e4ef061aa1_0_18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(g3e526bdcfb6_8_0)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4ef061aa1_0_19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g3e4ef061aa1_0_19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g3e4ef061aa1_0_19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5283b25c0_0_2068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68" name="Google Shape;68;g3e5283b25c0_0_2068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9" name="Google Shape;69;g3e5283b25c0_0_206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5283b25c0_0_207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g3e5283b25c0_0_2072"/>
          <p:cNvSpPr/>
          <p:nvPr/>
        </p:nvSpPr>
        <p:spPr>
          <a:xfrm>
            <a:off x="-30525" y="-72350"/>
            <a:ext cx="140400" cy="10359300"/>
          </a:xfrm>
          <a:prstGeom prst="rect">
            <a:avLst/>
          </a:prstGeom>
          <a:solidFill>
            <a:srgbClr val="A855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g3e5283b25c0_0_2072"/>
          <p:cNvCxnSpPr/>
          <p:nvPr/>
        </p:nvCxnSpPr>
        <p:spPr>
          <a:xfrm flipH="1" rot="10800000">
            <a:off x="257958" y="1101353"/>
            <a:ext cx="13225200" cy="5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g3e5283b25c0_0_2072"/>
          <p:cNvSpPr txBox="1"/>
          <p:nvPr/>
        </p:nvSpPr>
        <p:spPr>
          <a:xfrm>
            <a:off x="573950" y="512875"/>
            <a:ext cx="26559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NovaPay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e5283b25c0_0_2072"/>
          <p:cNvSpPr txBox="1"/>
          <p:nvPr/>
        </p:nvSpPr>
        <p:spPr>
          <a:xfrm>
            <a:off x="2588875" y="586150"/>
            <a:ext cx="6704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Detect, Predict, Protect</a:t>
            </a:r>
            <a:endParaRPr b="0" i="0" sz="16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5283b25c0_0_2078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78" name="Google Shape;78;g3e5283b25c0_0_207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283b25c0_0_208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81" name="Google Shape;81;g3e5283b25c0_0_208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82" name="Google Shape;82;g3e5283b25c0_0_208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5283b25c0_0_208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85" name="Google Shape;85;g3e5283b25c0_0_208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86" name="Google Shape;86;g3e5283b25c0_0_208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87" name="Google Shape;87;g3e5283b25c0_0_208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5283b25c0_0_209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90" name="Google Shape;90;g3e5283b25c0_0_209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5283b25c0_0_2093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g3e5283b25c0_0_2093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94" name="Google Shape;94;g3e5283b25c0_0_209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5283b25c0_0_2097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97" name="Google Shape;97;g3e5283b25c0_0_209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5283b25c0_0_2100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e5283b25c0_0_2100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101" name="Google Shape;101;g3e5283b25c0_0_2100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2" name="Google Shape;102;g3e5283b25c0_0_2100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03" name="Google Shape;103;g3e5283b25c0_0_210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5283b25c0_0_2106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106" name="Google Shape;106;g3e5283b25c0_0_210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5283b25c0_0_2109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109" name="Google Shape;109;g3e5283b25c0_0_2109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10" name="Google Shape;110;g3e5283b25c0_0_210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(g3e526bdcfb6_43_0)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5283b25c0_0_21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g3e5283b25c0_0_21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g3e5283b25c0_0_21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(g3e526bdcfb6_8_0)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5283b25c0_0_21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g3e5283b25c0_0_21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g3e5283b25c0_0_21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(g3e5283b25c0_63_0)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5283b25c0_0_212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85_0)">
  <p:cSld name="Blank (g3e526bdcfb6_85_0)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5283b25c0_0_226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75_0)">
  <p:cSld name="Blank (g3e526bdcfb6_75_0)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5283b25c0_0_226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61_0)">
  <p:cSld name="Blank (g3e526bdcfb6_61_0)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5283b25c0_0_226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 (g3e5283b25c0_56_0)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5283b25c0_0_226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">
  <p:cSld name="Blank (g3e5283b25c0_42_0)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5283b25c0_0_226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">
  <p:cSld name="Blank (g3e5283b25c0_35_0)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5283b25c0_0_227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">
  <p:cSld name="Blank (g3e5283b25c0_28_0)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5283b25c0_0_227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">
  <p:cSld name="Blank (g3e5283b25c0_21_0)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5283b25c0_0_227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 1">
  <p:cSld name="Blank (g3e5283b25c0_14_0)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5283b25c0_0_227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5283b25c0_0_11387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45" name="Google Shape;145;g3e5283b25c0_0_11387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46" name="Google Shape;146;g3e5283b25c0_0_1138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5283b25c0_0_1139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g3e5283b25c0_0_11391"/>
          <p:cNvSpPr/>
          <p:nvPr/>
        </p:nvSpPr>
        <p:spPr>
          <a:xfrm>
            <a:off x="-30525" y="-72350"/>
            <a:ext cx="140400" cy="10359300"/>
          </a:xfrm>
          <a:prstGeom prst="rect">
            <a:avLst/>
          </a:prstGeom>
          <a:solidFill>
            <a:srgbClr val="A855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g3e5283b25c0_0_11391"/>
          <p:cNvCxnSpPr/>
          <p:nvPr/>
        </p:nvCxnSpPr>
        <p:spPr>
          <a:xfrm flipH="1" rot="10800000">
            <a:off x="257958" y="1101353"/>
            <a:ext cx="13225200" cy="5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g3e5283b25c0_0_11391"/>
          <p:cNvSpPr txBox="1"/>
          <p:nvPr/>
        </p:nvSpPr>
        <p:spPr>
          <a:xfrm>
            <a:off x="573950" y="512875"/>
            <a:ext cx="26559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NovaPay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e5283b25c0_0_11391"/>
          <p:cNvSpPr txBox="1"/>
          <p:nvPr/>
        </p:nvSpPr>
        <p:spPr>
          <a:xfrm>
            <a:off x="2588875" y="586150"/>
            <a:ext cx="6704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Detect, Predict, Protect</a:t>
            </a:r>
            <a:endParaRPr b="0" i="0" sz="16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5283b25c0_0_11397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5" name="Google Shape;155;g3e5283b25c0_0_1139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5283b25c0_0_1140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58" name="Google Shape;158;g3e5283b25c0_0_11400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59" name="Google Shape;159;g3e5283b25c0_0_1140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5283b25c0_0_1140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62" name="Google Shape;162;g3e5283b25c0_0_11404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63" name="Google Shape;163;g3e5283b25c0_0_11404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64" name="Google Shape;164;g3e5283b25c0_0_1140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5283b25c0_0_1140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67" name="Google Shape;167;g3e5283b25c0_0_1140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5283b25c0_0_11412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0" name="Google Shape;170;g3e5283b25c0_0_11412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71" name="Google Shape;171;g3e5283b25c0_0_114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5283b25c0_0_11416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74" name="Google Shape;174;g3e5283b25c0_0_114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5283b25c0_0_1141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e5283b25c0_0_1141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178" name="Google Shape;178;g3e5283b25c0_0_1141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9" name="Google Shape;179;g3e5283b25c0_0_1141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80" name="Google Shape;180;g3e5283b25c0_0_114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5283b25c0_0_11425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183" name="Google Shape;183;g3e5283b25c0_0_1142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5283b25c0_0_11428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186" name="Google Shape;186;g3e5283b25c0_0_11428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87" name="Google Shape;187;g3e5283b25c0_0_1142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(g3e526bdcfb6_43_0)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5283b25c0_0_114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g3e5283b25c0_0_114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g3e5283b25c0_0_114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(g3e526bdcfb6_8_0)"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5283b25c0_0_1143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4" name="Google Shape;194;g3e5283b25c0_0_1143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5" name="Google Shape;195;g3e5283b25c0_0_1143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(g3e5283b25c0_63_0)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5283b25c0_0_1144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85_0)">
  <p:cSld name="Blank (g3e526bdcfb6_85_0)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5283b25c0_0_1144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75_0)">
  <p:cSld name="Blank (g3e526bdcfb6_75_0)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5283b25c0_0_1144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61_0)">
  <p:cSld name="Blank (g3e526bdcfb6_61_0)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5283b25c0_0_1144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 (g3e5283b25c0_56_0)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5283b25c0_0_1144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">
  <p:cSld name="Blank (g3e5283b25c0_42_0)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5283b25c0_0_1145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">
  <p:cSld name="Blank (g3e5283b25c0_35_0)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5283b25c0_0_1145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">
  <p:cSld name="Blank (g3e5283b25c0_28_0)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5283b25c0_0_1145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">
  <p:cSld name="Blank (g3e5283b25c0_21_0)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5283b25c0_0_1145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 1">
  <p:cSld name="Blank (g3e5283b25c0_14_0)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5283b25c0_0_1145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5283b25c0_0_12817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222" name="Google Shape;222;g3e5283b25c0_0_12817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23" name="Google Shape;223;g3e5283b25c0_0_128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5283b25c0_0_1282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g3e5283b25c0_0_12821"/>
          <p:cNvSpPr/>
          <p:nvPr/>
        </p:nvSpPr>
        <p:spPr>
          <a:xfrm>
            <a:off x="-30525" y="-72350"/>
            <a:ext cx="140400" cy="10359300"/>
          </a:xfrm>
          <a:prstGeom prst="rect">
            <a:avLst/>
          </a:prstGeom>
          <a:solidFill>
            <a:srgbClr val="A855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g3e5283b25c0_0_12821"/>
          <p:cNvCxnSpPr/>
          <p:nvPr/>
        </p:nvCxnSpPr>
        <p:spPr>
          <a:xfrm flipH="1" rot="10800000">
            <a:off x="257958" y="1101353"/>
            <a:ext cx="13225200" cy="5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g3e5283b25c0_0_12821"/>
          <p:cNvSpPr txBox="1"/>
          <p:nvPr/>
        </p:nvSpPr>
        <p:spPr>
          <a:xfrm>
            <a:off x="573950" y="512875"/>
            <a:ext cx="26559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NovaPay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e5283b25c0_0_12821"/>
          <p:cNvSpPr txBox="1"/>
          <p:nvPr/>
        </p:nvSpPr>
        <p:spPr>
          <a:xfrm>
            <a:off x="2588875" y="586150"/>
            <a:ext cx="6704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Detect, Predict, Protect</a:t>
            </a:r>
            <a:endParaRPr b="0" i="0" sz="16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5283b25c0_0_12827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32" name="Google Shape;232;g3e5283b25c0_0_1282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5283b25c0_0_1283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35" name="Google Shape;235;g3e5283b25c0_0_12830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36" name="Google Shape;236;g3e5283b25c0_0_1283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5283b25c0_0_1283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39" name="Google Shape;239;g3e5283b25c0_0_12834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0" name="Google Shape;240;g3e5283b25c0_0_12834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1" name="Google Shape;241;g3e5283b25c0_0_1283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5283b25c0_0_1283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44" name="Google Shape;244;g3e5283b25c0_0_1283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5283b25c0_0_12842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7" name="Google Shape;247;g3e5283b25c0_0_12842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8" name="Google Shape;248;g3e5283b25c0_0_1284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5283b25c0_0_12846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251" name="Google Shape;251;g3e5283b25c0_0_1284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5283b25c0_0_1284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e5283b25c0_0_1284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255" name="Google Shape;255;g3e5283b25c0_0_1284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6" name="Google Shape;256;g3e5283b25c0_0_1284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57" name="Google Shape;257;g3e5283b25c0_0_1284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5283b25c0_0_12855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260" name="Google Shape;260;g3e5283b25c0_0_1285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5283b25c0_0_12858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263" name="Google Shape;263;g3e5283b25c0_0_12858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64" name="Google Shape;264;g3e5283b25c0_0_1285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(g3e526bdcfb6_43_0)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5283b25c0_0_1286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7" name="Google Shape;267;g3e5283b25c0_0_1286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8" name="Google Shape;268;g3e5283b25c0_0_1286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(g3e526bdcfb6_8_0)"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5283b25c0_0_1286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g3e5283b25c0_0_1286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2" name="Google Shape;272;g3e5283b25c0_0_1286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 (g3e5283b25c0_101_0)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5283b25c0_0_1287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">
  <p:cSld name="Blank (g3e5283b25c0_94_0)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5283b25c0_0_1287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">
  <p:cSld name="Blank (g3e5283b25c0_63_0)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5283b25c0_0_1287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85_0)">
  <p:cSld name="Blank (g3e526bdcfb6_85_0)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5283b25c0_0_1287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75_0)">
  <p:cSld name="Blank (g3e526bdcfb6_75_0)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5283b25c0_0_1287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61_0)">
  <p:cSld name="Blank (g3e526bdcfb6_61_0)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5283b25c0_0_1288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">
  <p:cSld name="Blank (g3e5283b25c0_56_0)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5283b25c0_0_1288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">
  <p:cSld name="Blank (g3e5283b25c0_42_0)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5283b25c0_0_1288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 1">
  <p:cSld name="Blank (g3e5283b25c0_35_0)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5283b25c0_0_128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 1 1">
  <p:cSld name="Blank (g3e5283b25c0_28_0)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5283b25c0_0_1288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 1 1 1">
  <p:cSld name="Blank (g3e5283b25c0_21_0)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5283b25c0_0_1289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 1 1 1 1">
  <p:cSld name="Blank (g3e5283b25c0_14_0)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5283b25c0_0_1289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5283b25c0_0_13234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303" name="Google Shape;303;g3e5283b25c0_0_13234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04" name="Google Shape;304;g3e5283b25c0_0_1323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e5283b25c0_0_1323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g3e5283b25c0_0_13238"/>
          <p:cNvSpPr/>
          <p:nvPr/>
        </p:nvSpPr>
        <p:spPr>
          <a:xfrm>
            <a:off x="-30525" y="-72350"/>
            <a:ext cx="140400" cy="10359300"/>
          </a:xfrm>
          <a:prstGeom prst="rect">
            <a:avLst/>
          </a:prstGeom>
          <a:solidFill>
            <a:srgbClr val="A855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g3e5283b25c0_0_13238"/>
          <p:cNvCxnSpPr/>
          <p:nvPr/>
        </p:nvCxnSpPr>
        <p:spPr>
          <a:xfrm flipH="1" rot="10800000">
            <a:off x="257958" y="1101353"/>
            <a:ext cx="13225200" cy="5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g3e5283b25c0_0_13238"/>
          <p:cNvSpPr txBox="1"/>
          <p:nvPr/>
        </p:nvSpPr>
        <p:spPr>
          <a:xfrm>
            <a:off x="573950" y="512875"/>
            <a:ext cx="26559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NovaPay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e5283b25c0_0_13238"/>
          <p:cNvSpPr txBox="1"/>
          <p:nvPr/>
        </p:nvSpPr>
        <p:spPr>
          <a:xfrm>
            <a:off x="2588875" y="586150"/>
            <a:ext cx="6704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Detect, Predict, Protect</a:t>
            </a:r>
            <a:endParaRPr b="0" i="0" sz="16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5283b25c0_0_13244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13" name="Google Shape;313;g3e5283b25c0_0_1324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5283b25c0_0_1324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16" name="Google Shape;316;g3e5283b25c0_0_13247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317" name="Google Shape;317;g3e5283b25c0_0_1324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5283b25c0_0_1325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20" name="Google Shape;320;g3e5283b25c0_0_13251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21" name="Google Shape;321;g3e5283b25c0_0_13251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22" name="Google Shape;322;g3e5283b25c0_0_1325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e5283b25c0_0_1325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25" name="Google Shape;325;g3e5283b25c0_0_1325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5283b25c0_0_13259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8" name="Google Shape;328;g3e5283b25c0_0_13259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29" name="Google Shape;329;g3e5283b25c0_0_1325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5283b25c0_0_13263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32" name="Google Shape;332;g3e5283b25c0_0_1326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5283b25c0_0_13266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e5283b25c0_0_13266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36" name="Google Shape;336;g3e5283b25c0_0_13266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7" name="Google Shape;337;g3e5283b25c0_0_13266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338" name="Google Shape;338;g3e5283b25c0_0_1326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5283b25c0_0_13272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341" name="Google Shape;341;g3e5283b25c0_0_1327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5283b25c0_0_13275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344" name="Google Shape;344;g3e5283b25c0_0_13275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345" name="Google Shape;345;g3e5283b25c0_0_1327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(g3e526bdcfb6_43_0)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5283b25c0_0_1327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8" name="Google Shape;348;g3e5283b25c0_0_1327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9" name="Google Shape;349;g3e5283b25c0_0_1327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(g3e526bdcfb6_8_0)">
    <p:bg>
      <p:bgPr>
        <a:solidFill>
          <a:schemeClr val="lt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5283b25c0_0_1328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2" name="Google Shape;352;g3e5283b25c0_0_1328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3" name="Google Shape;353;g3e5283b25c0_0_1328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(g3e5283b25c0_63_0)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5283b25c0_0_1328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85_0)">
  <p:cSld name="Blank (g3e526bdcfb6_85_0)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5283b25c0_0_1328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75_0)">
  <p:cSld name="Blank (g3e526bdcfb6_75_0)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5283b25c0_0_1329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61_0)">
  <p:cSld name="Blank (g3e526bdcfb6_61_0)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5283b25c0_0_1329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 (g3e5283b25c0_56_0)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5283b25c0_0_1329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">
  <p:cSld name="Blank (g3e5283b25c0_42_0)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5283b25c0_0_1329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">
  <p:cSld name="Blank (g3e5283b25c0_35_0)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5283b25c0_0_1329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">
  <p:cSld name="Blank (g3e5283b25c0_28_0)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5283b25c0_0_1330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">
  <p:cSld name="Blank (g3e5283b25c0_21_0)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5283b25c0_0_1330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 1">
  <p:cSld name="Blank (g3e5283b25c0_14_0)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5283b25c0_0_1330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5283b25c0_385_1843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380" name="Google Shape;380;g3e5283b25c0_385_1843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1" name="Google Shape;381;g3e5283b25c0_385_184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5283b25c0_385_184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4" name="Google Shape;384;g3e5283b25c0_385_1847"/>
          <p:cNvSpPr/>
          <p:nvPr/>
        </p:nvSpPr>
        <p:spPr>
          <a:xfrm>
            <a:off x="-30525" y="-72350"/>
            <a:ext cx="140400" cy="10359300"/>
          </a:xfrm>
          <a:prstGeom prst="rect">
            <a:avLst/>
          </a:prstGeom>
          <a:solidFill>
            <a:srgbClr val="A855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" name="Google Shape;385;g3e5283b25c0_385_1847"/>
          <p:cNvCxnSpPr/>
          <p:nvPr/>
        </p:nvCxnSpPr>
        <p:spPr>
          <a:xfrm flipH="1" rot="10800000">
            <a:off x="257958" y="1101353"/>
            <a:ext cx="13225200" cy="5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g3e5283b25c0_385_1847"/>
          <p:cNvSpPr txBox="1"/>
          <p:nvPr/>
        </p:nvSpPr>
        <p:spPr>
          <a:xfrm>
            <a:off x="573950" y="512875"/>
            <a:ext cx="26559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NovaPay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e5283b25c0_385_1847"/>
          <p:cNvSpPr txBox="1"/>
          <p:nvPr/>
        </p:nvSpPr>
        <p:spPr>
          <a:xfrm>
            <a:off x="2588875" y="586150"/>
            <a:ext cx="6704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Detect, Predict, Protect</a:t>
            </a:r>
            <a:endParaRPr b="0" i="0" sz="16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5283b25c0_385_185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90" name="Google Shape;390;g3e5283b25c0_385_185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e5283b25c0_385_185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93" name="Google Shape;393;g3e5283b25c0_385_185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394" name="Google Shape;394;g3e5283b25c0_385_185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5283b25c0_385_186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97" name="Google Shape;397;g3e5283b25c0_385_1860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98" name="Google Shape;398;g3e5283b25c0_385_1860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99" name="Google Shape;399;g3e5283b25c0_385_186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5283b25c0_385_186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02" name="Google Shape;402;g3e5283b25c0_385_186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e5283b25c0_385_1868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5" name="Google Shape;405;g3e5283b25c0_385_1868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06" name="Google Shape;406;g3e5283b25c0_385_186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5283b25c0_385_1872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409" name="Google Shape;409;g3e5283b25c0_385_187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5283b25c0_385_1875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e5283b25c0_385_1875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413" name="Google Shape;413;g3e5283b25c0_385_1875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4" name="Google Shape;414;g3e5283b25c0_385_1875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15" name="Google Shape;415;g3e5283b25c0_385_187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e5283b25c0_385_1881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18" name="Google Shape;418;g3e5283b25c0_385_188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5283b25c0_385_1884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21" name="Google Shape;421;g3e5283b25c0_385_1884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22" name="Google Shape;422;g3e5283b25c0_385_188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(g3e526bdcfb6_43_0)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e5283b25c0_385_188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5" name="Google Shape;425;g3e5283b25c0_385_188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6" name="Google Shape;426;g3e5283b25c0_385_18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(g3e526bdcfb6_8_0)">
    <p:bg>
      <p:bgPr>
        <a:solidFill>
          <a:schemeClr val="lt1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5283b25c0_385_189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9" name="Google Shape;429;g3e5283b25c0_385_189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0" name="Google Shape;430;g3e5283b25c0_385_189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(g3e5283b25c0_63_0)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5283b25c0_385_189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85_0)">
  <p:cSld name="Blank (g3e526bdcfb6_85_0)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5283b25c0_385_189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75_0)">
  <p:cSld name="Blank (g3e526bdcfb6_75_0)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5283b25c0_385_190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61_0)">
  <p:cSld name="Blank (g3e526bdcfb6_61_0)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e5283b25c0_385_190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 (g3e5283b25c0_56_0)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5283b25c0_385_190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">
  <p:cSld name="Blank (g3e5283b25c0_42_0)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5283b25c0_385_190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">
  <p:cSld name="Blank (g3e5283b25c0_35_0)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e5283b25c0_385_190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">
  <p:cSld name="Blank (g3e5283b25c0_28_0)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5283b25c0_385_19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">
  <p:cSld name="Blank (g3e5283b25c0_21_0)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5283b25c0_385_19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 1">
  <p:cSld name="Blank (g3e5283b25c0_14_0)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5283b25c0_385_19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e5283b25c0_0_19384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457" name="Google Shape;457;g3e5283b25c0_0_19384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58" name="Google Shape;458;g3e5283b25c0_0_1938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5283b25c0_0_1938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1" name="Google Shape;461;g3e5283b25c0_0_19388"/>
          <p:cNvSpPr/>
          <p:nvPr/>
        </p:nvSpPr>
        <p:spPr>
          <a:xfrm>
            <a:off x="-30525" y="-72350"/>
            <a:ext cx="140400" cy="10359300"/>
          </a:xfrm>
          <a:prstGeom prst="rect">
            <a:avLst/>
          </a:prstGeom>
          <a:solidFill>
            <a:srgbClr val="A855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g3e5283b25c0_0_19388"/>
          <p:cNvCxnSpPr/>
          <p:nvPr/>
        </p:nvCxnSpPr>
        <p:spPr>
          <a:xfrm flipH="1" rot="10800000">
            <a:off x="257958" y="1101353"/>
            <a:ext cx="13225200" cy="54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g3e5283b25c0_0_19388"/>
          <p:cNvSpPr txBox="1"/>
          <p:nvPr/>
        </p:nvSpPr>
        <p:spPr>
          <a:xfrm>
            <a:off x="573950" y="512875"/>
            <a:ext cx="26559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NovaPay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e5283b25c0_0_19388"/>
          <p:cNvSpPr txBox="1"/>
          <p:nvPr/>
        </p:nvSpPr>
        <p:spPr>
          <a:xfrm>
            <a:off x="2588875" y="586150"/>
            <a:ext cx="6704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Detect, Predict, Protect</a:t>
            </a:r>
            <a:endParaRPr b="0" i="0" sz="1600" u="none" cap="none" strike="noStrike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e5283b25c0_0_19394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467" name="Google Shape;467;g3e5283b25c0_0_1939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5283b25c0_0_1939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70" name="Google Shape;470;g3e5283b25c0_0_19397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1" name="Google Shape;471;g3e5283b25c0_0_1939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e5283b25c0_0_1940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74" name="Google Shape;474;g3e5283b25c0_0_19401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75" name="Google Shape;475;g3e5283b25c0_0_19401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76" name="Google Shape;476;g3e5283b25c0_0_1940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e5283b25c0_0_1940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79" name="Google Shape;479;g3e5283b25c0_0_1940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5283b25c0_0_19409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2" name="Google Shape;482;g3e5283b25c0_0_19409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83" name="Google Shape;483;g3e5283b25c0_0_1940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e5283b25c0_0_19413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486" name="Google Shape;486;g3e5283b25c0_0_194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e5283b25c0_0_19416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e5283b25c0_0_19416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490" name="Google Shape;490;g3e5283b25c0_0_19416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1" name="Google Shape;491;g3e5283b25c0_0_19416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92" name="Google Shape;492;g3e5283b25c0_0_194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e5283b25c0_0_19422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95" name="Google Shape;495;g3e5283b25c0_0_1942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5283b25c0_0_19425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98" name="Google Shape;498;g3e5283b25c0_0_19425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99" name="Google Shape;499;g3e5283b25c0_0_1942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(g3e526bdcfb6_43_0)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5283b25c0_0_194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2" name="Google Shape;502;g3e5283b25c0_0_194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3" name="Google Shape;503;g3e5283b25c0_0_194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(g3e526bdcfb6_8_0)">
    <p:bg>
      <p:bgPr>
        <a:solidFill>
          <a:schemeClr val="lt1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e5283b25c0_0_1943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6" name="Google Shape;506;g3e5283b25c0_0_1943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7" name="Google Shape;507;g3e5283b25c0_0_1943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 (g3e5283b25c0_101_0)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e5283b25c0_0_1943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">
  <p:cSld name="Blank (g3e5283b25c0_94_0)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e5283b25c0_0_1943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">
  <p:cSld name="Blank (g3e5283b25c0_63_0)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e5283b25c0_0_1944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85_0)">
  <p:cSld name="Blank (g3e526bdcfb6_85_0)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e5283b25c0_0_1944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75_0)">
  <p:cSld name="Blank (g3e526bdcfb6_75_0)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e5283b25c0_0_1944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g3e526bdcfb6_61_0)">
  <p:cSld name="Blank (g3e526bdcfb6_61_0)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e5283b25c0_0_1944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">
  <p:cSld name="Blank (g3e5283b25c0_56_0)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e5283b25c0_0_1944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">
  <p:cSld name="Blank (g3e5283b25c0_42_0)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e5283b25c0_0_1945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 1">
  <p:cSld name="Blank (g3e5283b25c0_35_0)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e5283b25c0_0_1945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 1 1">
  <p:cSld name="Blank (g3e5283b25c0_28_0)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e5283b25c0_0_1945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 1 1 1">
  <p:cSld name="Blank (g3e5283b25c0_21_0)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e5283b25c0_0_1945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 1 1 1 1 1 1 1 1">
  <p:cSld name="Blank (g3e5283b25c0_14_0)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e5283b25c0_0_1945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26.xml"/><Relationship Id="rId24" Type="http://schemas.openxmlformats.org/officeDocument/2006/relationships/theme" Target="../theme/theme7.xml"/><Relationship Id="rId1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32.xml"/><Relationship Id="rId6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49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5.xml"/><Relationship Id="rId6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26" Type="http://schemas.openxmlformats.org/officeDocument/2006/relationships/theme" Target="../theme/theme6.xml"/><Relationship Id="rId25" Type="http://schemas.openxmlformats.org/officeDocument/2006/relationships/slideLayout" Target="../slideLayouts/slideLayout84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04.xml"/><Relationship Id="rId22" Type="http://schemas.openxmlformats.org/officeDocument/2006/relationships/slideLayout" Target="../slideLayouts/slideLayout106.xml"/><Relationship Id="rId21" Type="http://schemas.openxmlformats.org/officeDocument/2006/relationships/slideLayout" Target="../slideLayouts/slideLayout105.xml"/><Relationship Id="rId24" Type="http://schemas.openxmlformats.org/officeDocument/2006/relationships/theme" Target="../theme/theme2.xml"/><Relationship Id="rId23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96.xml"/><Relationship Id="rId15" Type="http://schemas.openxmlformats.org/officeDocument/2006/relationships/slideLayout" Target="../slideLayouts/slideLayout99.xml"/><Relationship Id="rId14" Type="http://schemas.openxmlformats.org/officeDocument/2006/relationships/slideLayout" Target="../slideLayouts/slideLayout98.xml"/><Relationship Id="rId17" Type="http://schemas.openxmlformats.org/officeDocument/2006/relationships/slideLayout" Target="../slideLayouts/slideLayout101.xml"/><Relationship Id="rId16" Type="http://schemas.openxmlformats.org/officeDocument/2006/relationships/slideLayout" Target="../slideLayouts/slideLayout100.xml"/><Relationship Id="rId19" Type="http://schemas.openxmlformats.org/officeDocument/2006/relationships/slideLayout" Target="../slideLayouts/slideLayout103.xml"/><Relationship Id="rId18" Type="http://schemas.openxmlformats.org/officeDocument/2006/relationships/slideLayout" Target="../slideLayouts/slideLayout102.xml"/></Relationships>
</file>

<file path=ppt/slideMasters/_rels/slideMaster6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27.xml"/><Relationship Id="rId22" Type="http://schemas.openxmlformats.org/officeDocument/2006/relationships/slideLayout" Target="../slideLayouts/slideLayout129.xml"/><Relationship Id="rId21" Type="http://schemas.openxmlformats.org/officeDocument/2006/relationships/slideLayout" Target="../slideLayouts/slideLayout128.xml"/><Relationship Id="rId24" Type="http://schemas.openxmlformats.org/officeDocument/2006/relationships/theme" Target="../theme/theme8.xml"/><Relationship Id="rId23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22.xml"/><Relationship Id="rId14" Type="http://schemas.openxmlformats.org/officeDocument/2006/relationships/slideLayout" Target="../slideLayouts/slideLayout121.xml"/><Relationship Id="rId17" Type="http://schemas.openxmlformats.org/officeDocument/2006/relationships/slideLayout" Target="../slideLayouts/slideLayout124.xml"/><Relationship Id="rId16" Type="http://schemas.openxmlformats.org/officeDocument/2006/relationships/slideLayout" Target="../slideLayouts/slideLayout123.xml"/><Relationship Id="rId19" Type="http://schemas.openxmlformats.org/officeDocument/2006/relationships/slideLayout" Target="../slideLayouts/slideLayout126.xml"/><Relationship Id="rId18" Type="http://schemas.openxmlformats.org/officeDocument/2006/relationships/slideLayout" Target="../slideLayouts/slideLayout125.xml"/></Relationships>
</file>

<file path=ppt/slideMasters/_rels/slideMaster7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0.xml"/><Relationship Id="rId22" Type="http://schemas.openxmlformats.org/officeDocument/2006/relationships/slideLayout" Target="../slideLayouts/slideLayout152.xml"/><Relationship Id="rId21" Type="http://schemas.openxmlformats.org/officeDocument/2006/relationships/slideLayout" Target="../slideLayouts/slideLayout151.xml"/><Relationship Id="rId24" Type="http://schemas.openxmlformats.org/officeDocument/2006/relationships/slideLayout" Target="../slideLayouts/slideLayout154.xml"/><Relationship Id="rId23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31.xml"/><Relationship Id="rId2" Type="http://schemas.openxmlformats.org/officeDocument/2006/relationships/slideLayout" Target="../slideLayouts/slideLayout132.xml"/><Relationship Id="rId3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Relationship Id="rId26" Type="http://schemas.openxmlformats.org/officeDocument/2006/relationships/theme" Target="../theme/theme5.xml"/><Relationship Id="rId25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37.xml"/><Relationship Id="rId8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140.xml"/><Relationship Id="rId13" Type="http://schemas.openxmlformats.org/officeDocument/2006/relationships/slideLayout" Target="../slideLayouts/slideLayout143.xml"/><Relationship Id="rId12" Type="http://schemas.openxmlformats.org/officeDocument/2006/relationships/slideLayout" Target="../slideLayouts/slideLayout142.xml"/><Relationship Id="rId15" Type="http://schemas.openxmlformats.org/officeDocument/2006/relationships/slideLayout" Target="../slideLayouts/slideLayout145.xml"/><Relationship Id="rId14" Type="http://schemas.openxmlformats.org/officeDocument/2006/relationships/slideLayout" Target="../slideLayouts/slideLayout144.xml"/><Relationship Id="rId17" Type="http://schemas.openxmlformats.org/officeDocument/2006/relationships/slideLayout" Target="../slideLayouts/slideLayout147.xml"/><Relationship Id="rId16" Type="http://schemas.openxmlformats.org/officeDocument/2006/relationships/slideLayout" Target="../slideLayouts/slideLayout146.xml"/><Relationship Id="rId19" Type="http://schemas.openxmlformats.org/officeDocument/2006/relationships/slideLayout" Target="../slideLayouts/slideLayout149.xml"/><Relationship Id="rId18" Type="http://schemas.openxmlformats.org/officeDocument/2006/relationships/slideLayout" Target="../slideLayouts/slideLayout1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e4ef061aa1_0_14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e4ef061aa1_0_14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e4ef061aa1_0_14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5283b25c0_0_206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g3e5283b25c0_0_206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g3e5283b25c0_0_206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5283b25c0_0_1138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g3e5283b25c0_0_1138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g3e5283b25c0_0_1138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5283b25c0_0_1281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g3e5283b25c0_0_1281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g3e5283b25c0_0_128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5283b25c0_0_1323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9" name="Google Shape;299;g3e5283b25c0_0_13230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0" name="Google Shape;300;g3e5283b25c0_0_1323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757" r:id="rId21"/>
    <p:sldLayoutId id="2147483758" r:id="rId22"/>
    <p:sldLayoutId id="2147483759" r:id="rId23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5283b25c0_385_183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6" name="Google Shape;376;g3e5283b25c0_385_1839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7" name="Google Shape;377;g3e5283b25c0_385_183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e5283b25c0_0_1938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3" name="Google Shape;453;g3e5283b25c0_0_19380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4" name="Google Shape;454;g3e5283b25c0_0_1938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01" r:id="rId17"/>
    <p:sldLayoutId id="2147483802" r:id="rId18"/>
    <p:sldLayoutId id="2147483803" r:id="rId19"/>
    <p:sldLayoutId id="2147483804" r:id="rId20"/>
    <p:sldLayoutId id="2147483805" r:id="rId21"/>
    <p:sldLayoutId id="2147483806" r:id="rId22"/>
    <p:sldLayoutId id="2147483807" r:id="rId23"/>
    <p:sldLayoutId id="2147483808" r:id="rId24"/>
    <p:sldLayoutId id="2147483809" r:id="rId25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hyperlink" Target="https://front-end-challenge-the-bridge.vercel.app/dashboar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g3a8bca059f7_0_490" title="ChatGPT Image 28 may 2026, 15_32_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42700" y="-105075"/>
            <a:ext cx="18712577" cy="10531399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g3a8bca059f7_0_490"/>
          <p:cNvSpPr txBox="1"/>
          <p:nvPr/>
        </p:nvSpPr>
        <p:spPr>
          <a:xfrm>
            <a:off x="13634089" y="6065200"/>
            <a:ext cx="4758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a8bca059f7_0_490"/>
          <p:cNvSpPr/>
          <p:nvPr/>
        </p:nvSpPr>
        <p:spPr>
          <a:xfrm>
            <a:off x="502375" y="231200"/>
            <a:ext cx="3401400" cy="158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9" name="Google Shape;539;g3a8bca059f7_0_490" title="logo_civic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4951" y="565150"/>
            <a:ext cx="2016227" cy="9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g3a8bca059f7_0_49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" name="Google Shape;545;g3e526bdcfb6_47_1170"/>
          <p:cNvGrpSpPr/>
          <p:nvPr/>
        </p:nvGrpSpPr>
        <p:grpSpPr>
          <a:xfrm>
            <a:off x="0" y="0"/>
            <a:ext cx="9239250" cy="10287000"/>
            <a:chOff x="0" y="0"/>
            <a:chExt cx="9239250" cy="10287000"/>
          </a:xfrm>
        </p:grpSpPr>
        <p:sp>
          <p:nvSpPr>
            <p:cNvPr id="546" name="Google Shape;546;g3e526bdcfb6_47_1170"/>
            <p:cNvSpPr/>
            <p:nvPr/>
          </p:nvSpPr>
          <p:spPr>
            <a:xfrm>
              <a:off x="0" y="0"/>
              <a:ext cx="140400" cy="10287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g3e526bdcfb6_47_1170"/>
            <p:cNvSpPr txBox="1"/>
            <p:nvPr/>
          </p:nvSpPr>
          <p:spPr>
            <a:xfrm>
              <a:off x="571500" y="381000"/>
              <a:ext cx="26670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NovaPay</a:t>
              </a:r>
              <a:endParaRPr b="1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48" name="Google Shape;548;g3e526bdcfb6_47_1170"/>
            <p:cNvSpPr txBox="1"/>
            <p:nvPr/>
          </p:nvSpPr>
          <p:spPr>
            <a:xfrm>
              <a:off x="2571750" y="304800"/>
              <a:ext cx="66675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Detecta, Predice</a:t>
              </a:r>
              <a:r>
                <a:rPr lang="en-US" sz="16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 y </a:t>
              </a:r>
              <a:r>
                <a:rPr b="0" lang="en-US" sz="16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Protege</a:t>
              </a:r>
              <a:endParaRPr b="0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9" name="Google Shape;549;g3e526bdcfb6_47_1170"/>
          <p:cNvGrpSpPr/>
          <p:nvPr/>
        </p:nvGrpSpPr>
        <p:grpSpPr>
          <a:xfrm>
            <a:off x="762000" y="1333500"/>
            <a:ext cx="16764000" cy="1905000"/>
            <a:chOff x="762000" y="1333500"/>
            <a:chExt cx="16764000" cy="1905000"/>
          </a:xfrm>
        </p:grpSpPr>
        <p:sp>
          <p:nvSpPr>
            <p:cNvPr id="550" name="Google Shape;550;g3e526bdcfb6_47_1170"/>
            <p:cNvSpPr txBox="1"/>
            <p:nvPr/>
          </p:nvSpPr>
          <p:spPr>
            <a:xfrm>
              <a:off x="762000" y="1333500"/>
              <a:ext cx="9525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5735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Descripción del Problema</a:t>
              </a:r>
              <a:endParaRPr b="0" sz="5735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endParaRPr>
            </a:p>
          </p:txBody>
        </p:sp>
        <p:sp>
          <p:nvSpPr>
            <p:cNvPr id="551" name="Google Shape;551;g3e526bdcfb6_47_1170"/>
            <p:cNvSpPr/>
            <p:nvPr/>
          </p:nvSpPr>
          <p:spPr>
            <a:xfrm>
              <a:off x="762000" y="2381250"/>
              <a:ext cx="1143000" cy="573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g3e526bdcfb6_47_1170"/>
            <p:cNvSpPr txBox="1"/>
            <p:nvPr/>
          </p:nvSpPr>
          <p:spPr>
            <a:xfrm>
              <a:off x="762000" y="2667000"/>
              <a:ext cx="10477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Impacto negativo de las transacciones fraudulentas no detectadas.</a:t>
              </a:r>
              <a:endParaRPr b="0" sz="2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3" name="Google Shape;553;g3e526bdcfb6_47_1170"/>
            <p:cNvSpPr txBox="1"/>
            <p:nvPr/>
          </p:nvSpPr>
          <p:spPr>
            <a:xfrm>
              <a:off x="11430000" y="1524000"/>
              <a:ext cx="6096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No basta con detectar anomalías: la empresa necesita decidir qué revisar, qué bloquear y qué aprobar.</a:t>
              </a:r>
              <a:endParaRPr b="0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4" name="Google Shape;554;g3e526bdcfb6_47_1170"/>
          <p:cNvGrpSpPr/>
          <p:nvPr/>
        </p:nvGrpSpPr>
        <p:grpSpPr>
          <a:xfrm>
            <a:off x="762000" y="3619500"/>
            <a:ext cx="16764000" cy="3238500"/>
            <a:chOff x="762000" y="3619500"/>
            <a:chExt cx="16764000" cy="3238500"/>
          </a:xfrm>
        </p:grpSpPr>
        <p:grpSp>
          <p:nvGrpSpPr>
            <p:cNvPr id="555" name="Google Shape;555;g3e526bdcfb6_47_1170"/>
            <p:cNvGrpSpPr/>
            <p:nvPr/>
          </p:nvGrpSpPr>
          <p:grpSpPr>
            <a:xfrm>
              <a:off x="762000" y="3619500"/>
              <a:ext cx="5334000" cy="3238500"/>
              <a:chOff x="762000" y="3619500"/>
              <a:chExt cx="5334000" cy="3238500"/>
            </a:xfrm>
          </p:grpSpPr>
          <p:sp>
            <p:nvSpPr>
              <p:cNvPr id="556" name="Google Shape;556;g3e526bdcfb6_47_1170"/>
              <p:cNvSpPr/>
              <p:nvPr/>
            </p:nvSpPr>
            <p:spPr>
              <a:xfrm>
                <a:off x="762000" y="3619500"/>
                <a:ext cx="5334000" cy="3238500"/>
              </a:xfrm>
              <a:prstGeom prst="roundRect">
                <a:avLst>
                  <a:gd fmla="val 7058" name="adj"/>
                </a:avLst>
              </a:prstGeom>
              <a:solidFill>
                <a:srgbClr val="1E293B"/>
              </a:solidFill>
              <a:ln cap="flat" cmpd="sng" w="1905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g3e526bdcfb6_47_1170"/>
              <p:cNvSpPr/>
              <p:nvPr/>
            </p:nvSpPr>
            <p:spPr>
              <a:xfrm>
                <a:off x="762000" y="3619500"/>
                <a:ext cx="152400" cy="3238500"/>
              </a:xfrm>
              <a:prstGeom prst="roundRect">
                <a:avLst>
                  <a:gd fmla="val 50000" name="adj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g3e526bdcfb6_47_1170"/>
              <p:cNvSpPr txBox="1"/>
              <p:nvPr/>
            </p:nvSpPr>
            <p:spPr>
              <a:xfrm>
                <a:off x="1238250" y="3905250"/>
                <a:ext cx="43815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0">
                    <a:solidFill>
                      <a:srgbClr val="EF444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payments</a:t>
                </a:r>
                <a:endParaRPr sz="60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-US" sz="32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Pérdida económica</a:t>
                </a:r>
                <a:endParaRPr b="1" sz="3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Un fraude no detectado implica pérdida directa y posible daño reputacional.</a:t>
                </a:r>
                <a:endParaRPr b="0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59" name="Google Shape;559;g3e526bdcfb6_47_1170"/>
            <p:cNvGrpSpPr/>
            <p:nvPr/>
          </p:nvGrpSpPr>
          <p:grpSpPr>
            <a:xfrm>
              <a:off x="6477000" y="3619500"/>
              <a:ext cx="5334000" cy="3238500"/>
              <a:chOff x="6477000" y="3619500"/>
              <a:chExt cx="5334000" cy="3238500"/>
            </a:xfrm>
          </p:grpSpPr>
          <p:sp>
            <p:nvSpPr>
              <p:cNvPr id="560" name="Google Shape;560;g3e526bdcfb6_47_1170"/>
              <p:cNvSpPr/>
              <p:nvPr/>
            </p:nvSpPr>
            <p:spPr>
              <a:xfrm>
                <a:off x="6477000" y="3619500"/>
                <a:ext cx="5334000" cy="3238500"/>
              </a:xfrm>
              <a:prstGeom prst="roundRect">
                <a:avLst>
                  <a:gd fmla="val 7058" name="adj"/>
                </a:avLst>
              </a:prstGeom>
              <a:solidFill>
                <a:srgbClr val="1E293B"/>
              </a:solidFill>
              <a:ln cap="flat" cmpd="sng" w="1905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g3e526bdcfb6_47_1170"/>
              <p:cNvSpPr/>
              <p:nvPr/>
            </p:nvSpPr>
            <p:spPr>
              <a:xfrm>
                <a:off x="6477000" y="3619500"/>
                <a:ext cx="152400" cy="3238500"/>
              </a:xfrm>
              <a:prstGeom prst="roundRect">
                <a:avLst>
                  <a:gd fmla="val 50000" name="adj"/>
                </a:avLst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g3e526bdcfb6_47_1170"/>
              <p:cNvSpPr txBox="1"/>
              <p:nvPr/>
            </p:nvSpPr>
            <p:spPr>
              <a:xfrm>
                <a:off x="6953250" y="3905250"/>
                <a:ext cx="43815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0">
                    <a:solidFill>
                      <a:srgbClr val="F59E0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group_off</a:t>
                </a:r>
                <a:endParaRPr sz="60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-US" sz="32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Fricción con clientes</a:t>
                </a:r>
                <a:endParaRPr b="1" sz="3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Un bloqueo incorrecto afecta la experiencia del usuario y genera coste de soporte.</a:t>
                </a:r>
                <a:endParaRPr b="0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63" name="Google Shape;563;g3e526bdcfb6_47_1170"/>
            <p:cNvGrpSpPr/>
            <p:nvPr/>
          </p:nvGrpSpPr>
          <p:grpSpPr>
            <a:xfrm>
              <a:off x="12192000" y="3619500"/>
              <a:ext cx="5334000" cy="3238500"/>
              <a:chOff x="12192000" y="3619500"/>
              <a:chExt cx="5334000" cy="3238500"/>
            </a:xfrm>
          </p:grpSpPr>
          <p:sp>
            <p:nvSpPr>
              <p:cNvPr id="564" name="Google Shape;564;g3e526bdcfb6_47_1170"/>
              <p:cNvSpPr/>
              <p:nvPr/>
            </p:nvSpPr>
            <p:spPr>
              <a:xfrm>
                <a:off x="12192000" y="3619500"/>
                <a:ext cx="5334000" cy="3238500"/>
              </a:xfrm>
              <a:prstGeom prst="roundRect">
                <a:avLst>
                  <a:gd fmla="val 7058" name="adj"/>
                </a:avLst>
              </a:prstGeom>
              <a:solidFill>
                <a:srgbClr val="1E293B"/>
              </a:solidFill>
              <a:ln cap="flat" cmpd="sng" w="1905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g3e526bdcfb6_47_1170"/>
              <p:cNvSpPr/>
              <p:nvPr/>
            </p:nvSpPr>
            <p:spPr>
              <a:xfrm>
                <a:off x="12192000" y="3619500"/>
                <a:ext cx="152400" cy="3238500"/>
              </a:xfrm>
              <a:prstGeom prst="roundRect">
                <a:avLst>
                  <a:gd fmla="val 50000" name="adj"/>
                </a:avLst>
              </a:prstGeom>
              <a:solidFill>
                <a:srgbClr val="A855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g3e526bdcfb6_47_1170"/>
              <p:cNvSpPr txBox="1"/>
              <p:nvPr/>
            </p:nvSpPr>
            <p:spPr>
              <a:xfrm>
                <a:off x="12668250" y="3905250"/>
                <a:ext cx="43815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0">
                    <a:solidFill>
                      <a:srgbClr val="A855F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</a:t>
                </a:r>
                <a:endParaRPr sz="60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-US" sz="32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Decisión bajo presión</a:t>
                </a:r>
                <a:endParaRPr b="1" sz="3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lang="en-US" sz="18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Los analistas necesitan criterios claros para detectar el fraude, sino sólo ven datos.</a:t>
                </a:r>
                <a:endParaRPr b="0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67" name="Google Shape;567;g3e526bdcfb6_47_1170"/>
          <p:cNvGrpSpPr/>
          <p:nvPr/>
        </p:nvGrpSpPr>
        <p:grpSpPr>
          <a:xfrm>
            <a:off x="762000" y="7429500"/>
            <a:ext cx="16764000" cy="1524000"/>
            <a:chOff x="762000" y="7429500"/>
            <a:chExt cx="16764000" cy="1524000"/>
          </a:xfrm>
        </p:grpSpPr>
        <p:sp>
          <p:nvSpPr>
            <p:cNvPr id="568" name="Google Shape;568;g3e526bdcfb6_47_1170"/>
            <p:cNvSpPr/>
            <p:nvPr/>
          </p:nvSpPr>
          <p:spPr>
            <a:xfrm>
              <a:off x="762000" y="7429500"/>
              <a:ext cx="16764000" cy="1524000"/>
            </a:xfrm>
            <a:prstGeom prst="roundRect">
              <a:avLst>
                <a:gd fmla="val 15000" name="adj"/>
              </a:avLst>
            </a:prstGeom>
            <a:solidFill>
              <a:srgbClr val="1E1B4B"/>
            </a:solidFill>
            <a:ln cap="flat" cmpd="sng" w="19050">
              <a:solidFill>
                <a:srgbClr val="4338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g3e526bdcfb6_47_1170"/>
            <p:cNvSpPr txBox="1"/>
            <p:nvPr/>
          </p:nvSpPr>
          <p:spPr>
            <a:xfrm>
              <a:off x="1238250" y="7429500"/>
              <a:ext cx="15811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ACC1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r>
                <a:rPr b="1" lang="en-US" sz="2400">
                  <a:solidFill>
                    <a:srgbClr val="FACC15"/>
                  </a:solidFill>
                  <a:latin typeface="Inter"/>
                  <a:ea typeface="Inter"/>
                  <a:cs typeface="Inter"/>
                  <a:sym typeface="Inter"/>
                </a:rPr>
                <a:t>Idea clave</a:t>
              </a:r>
              <a:endParaRPr sz="360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E</a:t>
              </a:r>
              <a:r>
                <a:rPr lang="en-US" sz="2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l </a:t>
              </a:r>
              <a:r>
                <a:rPr b="0" lang="en-US" sz="2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coste de dejar pasar un fraude suele ser mayor</a:t>
              </a:r>
              <a:r>
                <a:rPr lang="en-US" sz="2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0" lang="en-US" sz="2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que revisar una alerta legítima.</a:t>
              </a:r>
              <a:endParaRPr b="0" sz="2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70" name="Google Shape;570;g3e526bdcfb6_47_117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e5283b25c0_0_13488"/>
          <p:cNvSpPr/>
          <p:nvPr/>
        </p:nvSpPr>
        <p:spPr>
          <a:xfrm>
            <a:off x="0" y="0"/>
            <a:ext cx="140400" cy="10287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6" name="Google Shape;576;g3e5283b25c0_0_13488"/>
          <p:cNvGrpSpPr/>
          <p:nvPr/>
        </p:nvGrpSpPr>
        <p:grpSpPr>
          <a:xfrm>
            <a:off x="0" y="0"/>
            <a:ext cx="17716500" cy="10287000"/>
            <a:chOff x="0" y="0"/>
            <a:chExt cx="17716500" cy="10287000"/>
          </a:xfrm>
        </p:grpSpPr>
        <p:sp>
          <p:nvSpPr>
            <p:cNvPr id="577" name="Google Shape;577;g3e5283b25c0_0_13488"/>
            <p:cNvSpPr/>
            <p:nvPr/>
          </p:nvSpPr>
          <p:spPr>
            <a:xfrm>
              <a:off x="0" y="0"/>
              <a:ext cx="140400" cy="10287000"/>
            </a:xfrm>
            <a:prstGeom prst="rect">
              <a:avLst/>
            </a:prstGeom>
            <a:solidFill>
              <a:srgbClr val="A85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g3e5283b25c0_0_13488"/>
            <p:cNvSpPr txBox="1"/>
            <p:nvPr/>
          </p:nvSpPr>
          <p:spPr>
            <a:xfrm>
              <a:off x="571500" y="38100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NovaPay</a:t>
              </a:r>
              <a:endParaRPr b="1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9" name="Google Shape;579;g3e5283b25c0_0_13488"/>
            <p:cNvSpPr txBox="1"/>
            <p:nvPr/>
          </p:nvSpPr>
          <p:spPr>
            <a:xfrm>
              <a:off x="14287500" y="38100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Nuestra aplicación</a:t>
              </a:r>
              <a:endParaRPr b="0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80" name="Google Shape;580;g3e5283b25c0_0_13488"/>
          <p:cNvGrpSpPr/>
          <p:nvPr/>
        </p:nvGrpSpPr>
        <p:grpSpPr>
          <a:xfrm>
            <a:off x="762000" y="3877235"/>
            <a:ext cx="16764075" cy="1905000"/>
            <a:chOff x="762000" y="3429000"/>
            <a:chExt cx="16764075" cy="1905000"/>
          </a:xfrm>
        </p:grpSpPr>
        <p:sp>
          <p:nvSpPr>
            <p:cNvPr id="581" name="Google Shape;581;g3e5283b25c0_0_13488"/>
            <p:cNvSpPr/>
            <p:nvPr/>
          </p:nvSpPr>
          <p:spPr>
            <a:xfrm>
              <a:off x="762000" y="3429000"/>
              <a:ext cx="4048200" cy="19050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g3e5283b25c0_0_13488"/>
            <p:cNvSpPr txBox="1"/>
            <p:nvPr/>
          </p:nvSpPr>
          <p:spPr>
            <a:xfrm>
              <a:off x="1047750" y="3619500"/>
              <a:ext cx="34767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endParaRPr sz="30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878M€</a:t>
              </a:r>
              <a:endParaRPr b="1" sz="4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Importe Total Transacciones</a:t>
              </a:r>
              <a:endPara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3" name="Google Shape;583;g3e5283b25c0_0_13488"/>
            <p:cNvSpPr/>
            <p:nvPr/>
          </p:nvSpPr>
          <p:spPr>
            <a:xfrm>
              <a:off x="5000625" y="3429000"/>
              <a:ext cx="4048200" cy="19050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g3e5283b25c0_0_13488"/>
            <p:cNvSpPr txBox="1"/>
            <p:nvPr/>
          </p:nvSpPr>
          <p:spPr>
            <a:xfrm>
              <a:off x="5286375" y="3619500"/>
              <a:ext cx="34767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report_problem</a:t>
              </a:r>
              <a:endParaRPr sz="30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1,75M €</a:t>
              </a:r>
              <a:endParaRPr b="1" sz="4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Fraudulentas </a:t>
              </a:r>
              <a:r>
                <a:rPr b="1" lang="en-US" sz="13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0,002%</a:t>
              </a:r>
              <a:endPara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5" name="Google Shape;585;g3e5283b25c0_0_13488"/>
            <p:cNvSpPr/>
            <p:nvPr/>
          </p:nvSpPr>
          <p:spPr>
            <a:xfrm>
              <a:off x="9239250" y="3429000"/>
              <a:ext cx="4048200" cy="19050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g3e5283b25c0_0_13488"/>
            <p:cNvSpPr txBox="1"/>
            <p:nvPr/>
          </p:nvSpPr>
          <p:spPr>
            <a:xfrm>
              <a:off x="9525000" y="3619500"/>
              <a:ext cx="34767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30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440k €</a:t>
              </a:r>
              <a:endParaRPr b="1" sz="4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Por Revisar </a:t>
              </a:r>
              <a:r>
                <a:rPr b="1" lang="en-US" sz="1300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rPr>
                <a:t>23,4%</a:t>
              </a:r>
              <a:endPara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7" name="Google Shape;587;g3e5283b25c0_0_13488"/>
            <p:cNvSpPr/>
            <p:nvPr/>
          </p:nvSpPr>
          <p:spPr>
            <a:xfrm>
              <a:off x="13477875" y="3429000"/>
              <a:ext cx="4048200" cy="1905000"/>
            </a:xfrm>
            <a:prstGeom prst="roundRect">
              <a:avLst>
                <a:gd fmla="val 8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g3e5283b25c0_0_13488"/>
            <p:cNvSpPr txBox="1"/>
            <p:nvPr/>
          </p:nvSpPr>
          <p:spPr>
            <a:xfrm>
              <a:off x="13763625" y="3619500"/>
              <a:ext cx="34767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savings</a:t>
              </a:r>
              <a:endParaRPr sz="30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108,6k €</a:t>
              </a:r>
              <a:endParaRPr b="1" sz="4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Potencial Recuperado </a:t>
              </a:r>
              <a:r>
                <a:rPr b="1" lang="en-US" sz="1300">
                  <a:solidFill>
                    <a:srgbClr val="22C55E"/>
                  </a:solidFill>
                  <a:latin typeface="Inter"/>
                  <a:ea typeface="Inter"/>
                  <a:cs typeface="Inter"/>
                  <a:sym typeface="Inter"/>
                </a:rPr>
                <a:t>24,7%</a:t>
              </a:r>
              <a:endPara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89" name="Google Shape;589;g3e5283b25c0_0_13488"/>
          <p:cNvGrpSpPr/>
          <p:nvPr/>
        </p:nvGrpSpPr>
        <p:grpSpPr>
          <a:xfrm>
            <a:off x="762000" y="6067985"/>
            <a:ext cx="16764000" cy="1905150"/>
            <a:chOff x="762000" y="5619750"/>
            <a:chExt cx="16764000" cy="1905150"/>
          </a:xfrm>
        </p:grpSpPr>
        <p:sp>
          <p:nvSpPr>
            <p:cNvPr id="590" name="Google Shape;590;g3e5283b25c0_0_13488"/>
            <p:cNvSpPr txBox="1"/>
            <p:nvPr/>
          </p:nvSpPr>
          <p:spPr>
            <a:xfrm>
              <a:off x="762000" y="5619750"/>
              <a:ext cx="1676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Impacto financiero y eficiencia operativa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1" name="Google Shape;591;g3e5283b25c0_0_13488"/>
            <p:cNvSpPr/>
            <p:nvPr/>
          </p:nvSpPr>
          <p:spPr>
            <a:xfrm>
              <a:off x="762000" y="6096000"/>
              <a:ext cx="8191500" cy="1428900"/>
            </a:xfrm>
            <a:prstGeom prst="roundRect">
              <a:avLst>
                <a:gd fmla="val 10666" name="adj"/>
              </a:avLst>
            </a:prstGeom>
            <a:solidFill>
              <a:srgbClr val="1E1B4B"/>
            </a:solidFill>
            <a:ln cap="flat" cmpd="sng" w="9525">
              <a:solidFill>
                <a:srgbClr val="4338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g3e5283b25c0_0_13488"/>
            <p:cNvSpPr txBox="1"/>
            <p:nvPr/>
          </p:nvSpPr>
          <p:spPr>
            <a:xfrm>
              <a:off x="1047750" y="6286500"/>
              <a:ext cx="762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r>
                <a:rPr lang="en-US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3600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rPr>
                <a:t>30</a:t>
              </a:r>
              <a:r>
                <a:rPr b="1" lang="en-US" sz="3600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rPr>
                <a:t>k €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Costes Operativos (10 Analistas)</a:t>
              </a:r>
              <a:endParaRPr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3" name="Google Shape;593;g3e5283b25c0_0_13488"/>
            <p:cNvSpPr/>
            <p:nvPr/>
          </p:nvSpPr>
          <p:spPr>
            <a:xfrm>
              <a:off x="9334500" y="6096000"/>
              <a:ext cx="8191500" cy="1428900"/>
            </a:xfrm>
            <a:prstGeom prst="roundRect">
              <a:avLst>
                <a:gd fmla="val 10666" name="adj"/>
              </a:avLst>
            </a:prstGeom>
            <a:solidFill>
              <a:srgbClr val="064E3B"/>
            </a:solidFill>
            <a:ln cap="flat" cmpd="sng" w="9525">
              <a:solidFill>
                <a:srgbClr val="0596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g3e5283b25c0_0_13488"/>
            <p:cNvSpPr txBox="1"/>
            <p:nvPr/>
          </p:nvSpPr>
          <p:spPr>
            <a:xfrm>
              <a:off x="9620250" y="6286500"/>
              <a:ext cx="762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account_balance_wallet</a:t>
              </a:r>
              <a:r>
                <a:rPr lang="en-US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3600">
                  <a:solidFill>
                    <a:srgbClr val="22C55E"/>
                  </a:solidFill>
                  <a:latin typeface="Inter"/>
                  <a:ea typeface="Inter"/>
                  <a:cs typeface="Inter"/>
                  <a:sym typeface="Inter"/>
                </a:rPr>
                <a:t>7</a:t>
              </a:r>
              <a:r>
                <a:rPr b="1" lang="en-US" sz="3600">
                  <a:solidFill>
                    <a:srgbClr val="22C55E"/>
                  </a:solidFill>
                  <a:latin typeface="Inter"/>
                  <a:ea typeface="Inter"/>
                  <a:cs typeface="Inter"/>
                  <a:sym typeface="Inter"/>
                </a:rPr>
                <a:t>8,6k €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D1FAE5"/>
                  </a:solidFill>
                  <a:latin typeface="Inter"/>
                  <a:ea typeface="Inter"/>
                  <a:cs typeface="Inter"/>
                  <a:sym typeface="Inter"/>
                </a:rPr>
                <a:t>Beneficio Neto Recuperado</a:t>
              </a:r>
              <a:endParaRPr sz="1400">
                <a:solidFill>
                  <a:srgbClr val="D1FAE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5" name="Google Shape;595;g3e5283b25c0_0_13488"/>
          <p:cNvGrpSpPr/>
          <p:nvPr/>
        </p:nvGrpSpPr>
        <p:grpSpPr>
          <a:xfrm>
            <a:off x="762000" y="8258474"/>
            <a:ext cx="16764000" cy="1543755"/>
            <a:chOff x="762000" y="7810500"/>
            <a:chExt cx="16764000" cy="2095500"/>
          </a:xfrm>
        </p:grpSpPr>
        <p:sp>
          <p:nvSpPr>
            <p:cNvPr id="596" name="Google Shape;596;g3e5283b25c0_0_13488"/>
            <p:cNvSpPr/>
            <p:nvPr/>
          </p:nvSpPr>
          <p:spPr>
            <a:xfrm>
              <a:off x="762000" y="7810500"/>
              <a:ext cx="16764000" cy="2095500"/>
            </a:xfrm>
            <a:prstGeom prst="roundRect">
              <a:avLst>
                <a:gd fmla="val 7272" name="adj"/>
              </a:avLst>
            </a:prstGeom>
            <a:solidFill>
              <a:srgbClr val="1E1B4B"/>
            </a:solidFill>
            <a:ln cap="flat" cmpd="sng" w="9525">
              <a:solidFill>
                <a:srgbClr val="4338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g3e5283b25c0_0_13488"/>
            <p:cNvSpPr txBox="1"/>
            <p:nvPr/>
          </p:nvSpPr>
          <p:spPr>
            <a:xfrm>
              <a:off x="1143000" y="8001000"/>
              <a:ext cx="16002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ACC1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r>
                <a:rPr lang="en-US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en-US" sz="2000">
                  <a:solidFill>
                    <a:srgbClr val="FACC15"/>
                  </a:solidFill>
                  <a:latin typeface="Inter"/>
                  <a:ea typeface="Inter"/>
                  <a:cs typeface="Inter"/>
                  <a:sym typeface="Inter"/>
                </a:rPr>
                <a:t>Evolución del Modelo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F8FAFC"/>
                </a:buClr>
                <a:buSzPts val="1600"/>
                <a:buFont typeface="Inter"/>
                <a:buChar char="●"/>
              </a:pPr>
              <a:r>
                <a:rPr lang="en-US" sz="16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El modelo se re-entrena con la validación del analista, mejorando continuamente su precisión predictiva.</a:t>
              </a:r>
              <a:endParaRPr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302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F8FAFC"/>
                </a:buClr>
                <a:buSzPts val="1600"/>
                <a:buFont typeface="Inter"/>
                <a:buChar char="●"/>
              </a:pPr>
              <a:r>
                <a:rPr lang="en-US" sz="16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Fases posteriores: optimización del flujo que reduce transacciones a revisar y optimiza el equipo de analistas.</a:t>
              </a:r>
              <a:endParaRPr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98" name="Google Shape;598;g3e5283b25c0_0_13488"/>
          <p:cNvSpPr txBox="1"/>
          <p:nvPr/>
        </p:nvSpPr>
        <p:spPr>
          <a:xfrm>
            <a:off x="2571750" y="304800"/>
            <a:ext cx="6667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Detecta, Predice</a:t>
            </a:r>
            <a:r>
              <a:rPr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Protege</a:t>
            </a:r>
            <a:endParaRPr b="0" sz="1600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Google Shape;599;g3e5283b25c0_0_13488"/>
          <p:cNvSpPr txBox="1"/>
          <p:nvPr/>
        </p:nvSpPr>
        <p:spPr>
          <a:xfrm>
            <a:off x="774326" y="2439443"/>
            <a:ext cx="1676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modelo categoriza las transacciones en: </a:t>
            </a:r>
            <a:r>
              <a:rPr b="1" lang="en-US" sz="20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FRAUDULENTAS</a:t>
            </a:r>
            <a:r>
              <a:rPr lang="en-US" sz="2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lang="en-US" sz="2000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POR REVISAR</a:t>
            </a:r>
            <a:r>
              <a:rPr lang="en-US" sz="2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1" lang="en-US" sz="2000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LEGÍTIMAS</a:t>
            </a:r>
            <a:r>
              <a:rPr lang="en-US" sz="2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2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Google Shape;600;g3e5283b25c0_0_13488"/>
          <p:cNvSpPr txBox="1"/>
          <p:nvPr/>
        </p:nvSpPr>
        <p:spPr>
          <a:xfrm>
            <a:off x="762000" y="3152921"/>
            <a:ext cx="16764000" cy="337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Pérdida evitada por detección de transacciones (</a:t>
            </a:r>
            <a:r>
              <a:rPr b="1" lang="en-US" sz="20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MENSUAL</a:t>
            </a:r>
            <a:r>
              <a:rPr b="0" lang="en-US" sz="2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), considerando </a:t>
            </a:r>
            <a:r>
              <a:rPr b="1"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500.000</a:t>
            </a:r>
            <a:r>
              <a:rPr b="0" lang="en-US" sz="2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operaciones al d</a:t>
            </a:r>
            <a:r>
              <a:rPr lang="en-US" sz="2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ía:</a:t>
            </a:r>
            <a:endParaRPr b="0" sz="2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1" name="Google Shape;601;g3e5283b25c0_0_13488"/>
          <p:cNvSpPr txBox="1"/>
          <p:nvPr/>
        </p:nvSpPr>
        <p:spPr>
          <a:xfrm>
            <a:off x="762000" y="1358926"/>
            <a:ext cx="9525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828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NUESTRA SOLUCIÓN</a:t>
            </a:r>
            <a:endParaRPr b="0" sz="5828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02" name="Google Shape;602;g3e5283b25c0_0_1348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a8bca059f7_0_840"/>
          <p:cNvSpPr/>
          <p:nvPr/>
        </p:nvSpPr>
        <p:spPr>
          <a:xfrm>
            <a:off x="14354175" y="457200"/>
            <a:ext cx="3357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Funcionamiento</a:t>
            </a:r>
            <a:endParaRPr b="0"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8" name="Google Shape;608;g3a8bca059f7_0_840"/>
          <p:cNvSpPr txBox="1"/>
          <p:nvPr/>
        </p:nvSpPr>
        <p:spPr>
          <a:xfrm>
            <a:off x="762000" y="1333500"/>
            <a:ext cx="10477500" cy="94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12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¿CÓMO FUNCIONA NovaPay?</a:t>
            </a:r>
            <a:endParaRPr b="0" sz="612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09" name="Google Shape;609;g3a8bca059f7_0_840"/>
          <p:cNvSpPr/>
          <p:nvPr/>
        </p:nvSpPr>
        <p:spPr>
          <a:xfrm>
            <a:off x="762000" y="2394239"/>
            <a:ext cx="1143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NovaPay convierte datos de pago en </a:t>
            </a: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decisiones antifraude explicables</a:t>
            </a:r>
            <a:endParaRPr b="0" sz="2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10" name="Google Shape;610;g3a8bca059f7_0_840"/>
          <p:cNvGrpSpPr/>
          <p:nvPr/>
        </p:nvGrpSpPr>
        <p:grpSpPr>
          <a:xfrm>
            <a:off x="762000" y="3238500"/>
            <a:ext cx="16668675" cy="2667000"/>
            <a:chOff x="762000" y="3238500"/>
            <a:chExt cx="16668675" cy="2667000"/>
          </a:xfrm>
        </p:grpSpPr>
        <p:sp>
          <p:nvSpPr>
            <p:cNvPr id="611" name="Google Shape;611;g3a8bca059f7_0_840"/>
            <p:cNvSpPr/>
            <p:nvPr/>
          </p:nvSpPr>
          <p:spPr>
            <a:xfrm>
              <a:off x="762000" y="3238500"/>
              <a:ext cx="3952800" cy="26670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g3a8bca059f7_0_840"/>
            <p:cNvSpPr/>
            <p:nvPr/>
          </p:nvSpPr>
          <p:spPr>
            <a:xfrm>
              <a:off x="5000625" y="3238500"/>
              <a:ext cx="3952800" cy="26670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g3a8bca059f7_0_840"/>
            <p:cNvSpPr/>
            <p:nvPr/>
          </p:nvSpPr>
          <p:spPr>
            <a:xfrm>
              <a:off x="9239250" y="3238500"/>
              <a:ext cx="3952800" cy="26670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g3a8bca059f7_0_840"/>
            <p:cNvSpPr/>
            <p:nvPr/>
          </p:nvSpPr>
          <p:spPr>
            <a:xfrm>
              <a:off x="13477875" y="3238500"/>
              <a:ext cx="3952800" cy="26670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g3a8bca059f7_0_840"/>
            <p:cNvSpPr txBox="1"/>
            <p:nvPr/>
          </p:nvSpPr>
          <p:spPr>
            <a:xfrm>
              <a:off x="1047750" y="3429000"/>
              <a:ext cx="33813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</a:t>
              </a:r>
              <a:endParaRPr b="1" i="0" sz="24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01. DETECTAR Y FILTRAR</a:t>
              </a:r>
              <a:endParaRPr b="1" i="0" sz="16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2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Captura de Señales</a:t>
              </a:r>
              <a:endParaRPr b="1" i="0" sz="22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i="0"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Identifica señales de riesgo en transacciones y comportamiento del usuario.</a:t>
              </a:r>
              <a:endParaRPr b="1" i="0" sz="18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16" name="Google Shape;616;g3a8bca059f7_0_840"/>
            <p:cNvSpPr txBox="1"/>
            <p:nvPr/>
          </p:nvSpPr>
          <p:spPr>
            <a:xfrm>
              <a:off x="5286375" y="3429000"/>
              <a:ext cx="33813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b="1" i="0" sz="24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02. PREDECIR</a:t>
              </a:r>
              <a:endParaRPr b="1" i="0" sz="16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Modelado Avanzado</a:t>
              </a:r>
              <a:endParaRPr b="1" i="0" sz="20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i="0"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Calcula probabilidad de fraude con modelo ML</a:t>
              </a:r>
              <a:r>
                <a:rPr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y </a:t>
              </a:r>
              <a:r>
                <a:rPr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características</a:t>
              </a:r>
              <a:r>
                <a:rPr b="0" i="0"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diseñadas.</a:t>
              </a:r>
              <a:endParaRPr b="1" i="0" sz="16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17" name="Google Shape;617;g3a8bca059f7_0_840"/>
            <p:cNvSpPr txBox="1"/>
            <p:nvPr/>
          </p:nvSpPr>
          <p:spPr>
            <a:xfrm>
              <a:off x="9525000" y="3429000"/>
              <a:ext cx="33813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b="1" i="0" sz="24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03. EXPLICAR</a:t>
              </a:r>
              <a:endParaRPr b="1" i="0" sz="16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Transparencia </a:t>
              </a:r>
              <a:r>
                <a:rPr b="1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criterios</a:t>
              </a:r>
              <a:r>
                <a:rPr b="0" i="0"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1" i="0" sz="16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i="0"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Ayuda al </a:t>
              </a: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  <a:r>
                <a:rPr b="0" i="0"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nalista con algoritmos de decisi</a:t>
              </a: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ón.</a:t>
              </a:r>
              <a:endParaRPr b="1" i="0" sz="18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18" name="Google Shape;618;g3a8bca059f7_0_840"/>
            <p:cNvSpPr txBox="1"/>
            <p:nvPr/>
          </p:nvSpPr>
          <p:spPr>
            <a:xfrm>
              <a:off x="13763625" y="3429000"/>
              <a:ext cx="33813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b="1" i="0" sz="24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04. PROTEGER</a:t>
              </a:r>
              <a:endParaRPr b="1" i="0" sz="16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Acción Operativa</a:t>
              </a:r>
              <a:endParaRPr b="1" i="0" sz="20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Bloquea la cuenta o contacta al cliente en caso de transacciones sospechosas.</a:t>
              </a:r>
              <a:endParaRPr b="1" i="0" sz="18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619" name="Google Shape;619;g3a8bca059f7_0_840"/>
          <p:cNvGrpSpPr/>
          <p:nvPr/>
        </p:nvGrpSpPr>
        <p:grpSpPr>
          <a:xfrm>
            <a:off x="762000" y="6477000"/>
            <a:ext cx="16668750" cy="2667000"/>
            <a:chOff x="762000" y="6477000"/>
            <a:chExt cx="16668750" cy="2667000"/>
          </a:xfrm>
        </p:grpSpPr>
        <p:sp>
          <p:nvSpPr>
            <p:cNvPr id="620" name="Google Shape;620;g3a8bca059f7_0_840"/>
            <p:cNvSpPr/>
            <p:nvPr/>
          </p:nvSpPr>
          <p:spPr>
            <a:xfrm>
              <a:off x="762000" y="6477000"/>
              <a:ext cx="8191500" cy="2667000"/>
            </a:xfrm>
            <a:prstGeom prst="roundRect">
              <a:avLst>
                <a:gd fmla="val 5714" name="adj"/>
              </a:avLst>
            </a:prstGeom>
            <a:solidFill>
              <a:srgbClr val="1E1B4B"/>
            </a:solidFill>
            <a:ln cap="flat" cmpd="sng" w="19050">
              <a:solidFill>
                <a:srgbClr val="4338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g3a8bca059f7_0_840"/>
            <p:cNvSpPr/>
            <p:nvPr/>
          </p:nvSpPr>
          <p:spPr>
            <a:xfrm>
              <a:off x="9239250" y="6477000"/>
              <a:ext cx="8191500" cy="2667000"/>
            </a:xfrm>
            <a:prstGeom prst="roundRect">
              <a:avLst>
                <a:gd fmla="val 5714" name="adj"/>
              </a:avLst>
            </a:prstGeom>
            <a:solidFill>
              <a:srgbClr val="1E1B4B"/>
            </a:solidFill>
            <a:ln cap="flat" cmpd="sng" w="19050">
              <a:solidFill>
                <a:srgbClr val="4338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g3a8bca059f7_0_840"/>
            <p:cNvSpPr txBox="1"/>
            <p:nvPr/>
          </p:nvSpPr>
          <p:spPr>
            <a:xfrm>
              <a:off x="1047750" y="6762750"/>
              <a:ext cx="76200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>
                  <a:solidFill>
                    <a:srgbClr val="FACC1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business_center</a:t>
              </a:r>
              <a:endParaRPr b="1" i="0" sz="280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FACC15"/>
                  </a:solidFill>
                  <a:latin typeface="Inter"/>
                  <a:ea typeface="Inter"/>
                  <a:cs typeface="Inter"/>
                  <a:sym typeface="Inter"/>
                </a:rPr>
                <a:t>ENFOQUE DE NEGOCIO</a:t>
              </a:r>
              <a:endParaRPr b="1" i="0" sz="1600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1125"/>
                </a:spcAft>
                <a:buNone/>
              </a:pPr>
              <a:r>
                <a:rPr b="0" i="0"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NovaPay no es solo un modelo: </a:t>
              </a:r>
              <a:r>
                <a:rPr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son </a:t>
              </a:r>
              <a:r>
                <a:rPr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múltiples</a:t>
              </a:r>
              <a:r>
                <a:rPr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i="0" lang="en-US" sz="20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capas de decisión operativa</a:t>
              </a:r>
              <a:r>
                <a:rPr b="0" i="0"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para equipos de riesgo.</a:t>
              </a:r>
              <a:endParaRPr b="1" i="0" sz="1600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3" name="Google Shape;623;g3a8bca059f7_0_840"/>
            <p:cNvSpPr txBox="1"/>
            <p:nvPr/>
          </p:nvSpPr>
          <p:spPr>
            <a:xfrm>
              <a:off x="9525000" y="6509742"/>
              <a:ext cx="7620000" cy="2177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80">
                  <a:solidFill>
                    <a:srgbClr val="FACC1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endParaRPr b="1" sz="268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60">
                  <a:solidFill>
                    <a:srgbClr val="FACC15"/>
                  </a:solidFill>
                  <a:latin typeface="Inter"/>
                  <a:ea typeface="Inter"/>
                  <a:cs typeface="Inter"/>
                  <a:sym typeface="Inter"/>
                </a:rPr>
                <a:t>ENFOQUE TÉCNICO</a:t>
              </a:r>
              <a:endParaRPr b="1" sz="166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3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• Guía al experto para tomar mejores decisiones gracias a los cálculos del sistema.</a:t>
              </a:r>
              <a:endParaRPr b="1" sz="183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0" lang="en-US" sz="183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• Sistema robusto preparado para funcionar siempre sin interrupciones.</a:t>
              </a:r>
              <a:endParaRPr b="1" sz="183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0" lang="en-US" sz="183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• Sugiere medidas de seguridad claras para evitar riesgos.</a:t>
              </a:r>
              <a:endParaRPr b="1" sz="183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624" name="Google Shape;624;g3a8bca059f7_0_840"/>
          <p:cNvSpPr/>
          <p:nvPr/>
        </p:nvSpPr>
        <p:spPr>
          <a:xfrm>
            <a:off x="0" y="0"/>
            <a:ext cx="140400" cy="10287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3a8bca059f7_0_840"/>
          <p:cNvSpPr txBox="1"/>
          <p:nvPr/>
        </p:nvSpPr>
        <p:spPr>
          <a:xfrm>
            <a:off x="573950" y="381000"/>
            <a:ext cx="2655900" cy="51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NovaPay</a:t>
            </a:r>
            <a:endParaRPr b="1" sz="2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6" name="Google Shape;626;g3a8bca059f7_0_840"/>
          <p:cNvSpPr txBox="1"/>
          <p:nvPr/>
        </p:nvSpPr>
        <p:spPr>
          <a:xfrm>
            <a:off x="2571750" y="304800"/>
            <a:ext cx="6667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Detecta, Predice</a:t>
            </a:r>
            <a:r>
              <a:rPr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Protege</a:t>
            </a:r>
            <a:endParaRPr b="0" sz="1600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7" name="Google Shape;627;g3a8bca059f7_0_84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e5283b25c0_0_19493"/>
          <p:cNvSpPr/>
          <p:nvPr/>
        </p:nvSpPr>
        <p:spPr>
          <a:xfrm>
            <a:off x="14354175" y="457200"/>
            <a:ext cx="3357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Funcionamiento</a:t>
            </a:r>
            <a:endParaRPr b="0"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Google Shape;633;g3e5283b25c0_0_19493"/>
          <p:cNvSpPr txBox="1"/>
          <p:nvPr/>
        </p:nvSpPr>
        <p:spPr>
          <a:xfrm>
            <a:off x="762000" y="1333500"/>
            <a:ext cx="10477500" cy="94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12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¿CÓMO FUNCIONA NovaPay?</a:t>
            </a:r>
            <a:endParaRPr b="0" sz="612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34" name="Google Shape;634;g3e5283b25c0_0_19493"/>
          <p:cNvSpPr/>
          <p:nvPr/>
        </p:nvSpPr>
        <p:spPr>
          <a:xfrm>
            <a:off x="762000" y="2394239"/>
            <a:ext cx="1143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NovaPay convierte datos de pago en </a:t>
            </a: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decisiones antifraude explicables</a:t>
            </a:r>
            <a:endParaRPr b="0" sz="2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35" name="Google Shape;635;g3e5283b25c0_0_19493"/>
          <p:cNvGrpSpPr/>
          <p:nvPr/>
        </p:nvGrpSpPr>
        <p:grpSpPr>
          <a:xfrm>
            <a:off x="762000" y="3238500"/>
            <a:ext cx="16668675" cy="2667000"/>
            <a:chOff x="762000" y="3238500"/>
            <a:chExt cx="16668675" cy="2667000"/>
          </a:xfrm>
        </p:grpSpPr>
        <p:sp>
          <p:nvSpPr>
            <p:cNvPr id="636" name="Google Shape;636;g3e5283b25c0_0_19493"/>
            <p:cNvSpPr/>
            <p:nvPr/>
          </p:nvSpPr>
          <p:spPr>
            <a:xfrm>
              <a:off x="762000" y="3238500"/>
              <a:ext cx="3952800" cy="26670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g3e5283b25c0_0_19493"/>
            <p:cNvSpPr/>
            <p:nvPr/>
          </p:nvSpPr>
          <p:spPr>
            <a:xfrm>
              <a:off x="5000625" y="3238500"/>
              <a:ext cx="3952800" cy="26670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g3e5283b25c0_0_19493"/>
            <p:cNvSpPr/>
            <p:nvPr/>
          </p:nvSpPr>
          <p:spPr>
            <a:xfrm>
              <a:off x="9239250" y="3238500"/>
              <a:ext cx="3952800" cy="26670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g3e5283b25c0_0_19493"/>
            <p:cNvSpPr/>
            <p:nvPr/>
          </p:nvSpPr>
          <p:spPr>
            <a:xfrm>
              <a:off x="13477875" y="3238500"/>
              <a:ext cx="3952800" cy="26670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g3e5283b25c0_0_19493"/>
            <p:cNvSpPr txBox="1"/>
            <p:nvPr/>
          </p:nvSpPr>
          <p:spPr>
            <a:xfrm>
              <a:off x="1047750" y="3429000"/>
              <a:ext cx="33813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</a:t>
              </a:r>
              <a:endParaRPr b="1" i="0" sz="24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01. DETECTAR Y FILTRAR</a:t>
              </a:r>
              <a:endParaRPr b="1" i="0" sz="16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2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Captura de Señales</a:t>
              </a:r>
              <a:endParaRPr b="1" i="0" sz="22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i="0"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Identifica señales de riesgo en transacciones y comportamiento del usuario.</a:t>
              </a:r>
              <a:endParaRPr b="1" i="0" sz="18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41" name="Google Shape;641;g3e5283b25c0_0_19493"/>
            <p:cNvSpPr txBox="1"/>
            <p:nvPr/>
          </p:nvSpPr>
          <p:spPr>
            <a:xfrm>
              <a:off x="5286375" y="3429000"/>
              <a:ext cx="33813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b="1" i="0" sz="24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02. PREDECIR</a:t>
              </a:r>
              <a:endParaRPr b="1" i="0" sz="16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Modelado Avanzado</a:t>
              </a:r>
              <a:endParaRPr b="1" i="0" sz="20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i="0"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Calcula probabilidad de fraude con modelo ML</a:t>
              </a:r>
              <a:r>
                <a:rPr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y </a:t>
              </a:r>
              <a:r>
                <a:rPr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características</a:t>
              </a:r>
              <a:r>
                <a:rPr b="0" i="0"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diseñadas.</a:t>
              </a:r>
              <a:endParaRPr b="1" i="0" sz="16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42" name="Google Shape;642;g3e5283b25c0_0_19493"/>
            <p:cNvSpPr txBox="1"/>
            <p:nvPr/>
          </p:nvSpPr>
          <p:spPr>
            <a:xfrm>
              <a:off x="9525000" y="3429000"/>
              <a:ext cx="33813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b="1" i="0" sz="24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03. EXPLICAR</a:t>
              </a:r>
              <a:endParaRPr b="1" i="0" sz="16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Transparencia </a:t>
              </a:r>
              <a:r>
                <a:rPr b="1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criterios</a:t>
              </a:r>
              <a:r>
                <a:rPr b="0" i="0" lang="en-US" sz="16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1" i="0" sz="16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0" i="0"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Ayuda al </a:t>
              </a: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</a:t>
              </a:r>
              <a:r>
                <a:rPr b="0" i="0"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nalista con algoritmos de decisi</a:t>
              </a: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ón.</a:t>
              </a:r>
              <a:endParaRPr b="1" i="0" sz="18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43" name="Google Shape;643;g3e5283b25c0_0_19493"/>
            <p:cNvSpPr txBox="1"/>
            <p:nvPr/>
          </p:nvSpPr>
          <p:spPr>
            <a:xfrm>
              <a:off x="13763625" y="3429000"/>
              <a:ext cx="33813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b="1" i="0" sz="24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04. PROTEGER</a:t>
              </a:r>
              <a:endParaRPr b="1" i="0" sz="16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Acción Operativa</a:t>
              </a:r>
              <a:endParaRPr b="1" i="0" sz="20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Bloquea la cuenta o contacta al cliente en caso de transacciones sospechosas.</a:t>
              </a:r>
              <a:endParaRPr b="1" i="0" sz="18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644" name="Google Shape;644;g3e5283b25c0_0_19493"/>
          <p:cNvGrpSpPr/>
          <p:nvPr/>
        </p:nvGrpSpPr>
        <p:grpSpPr>
          <a:xfrm>
            <a:off x="762000" y="6477000"/>
            <a:ext cx="16668750" cy="2667000"/>
            <a:chOff x="762000" y="6477000"/>
            <a:chExt cx="16668750" cy="2667000"/>
          </a:xfrm>
        </p:grpSpPr>
        <p:sp>
          <p:nvSpPr>
            <p:cNvPr id="645" name="Google Shape;645;g3e5283b25c0_0_19493"/>
            <p:cNvSpPr/>
            <p:nvPr/>
          </p:nvSpPr>
          <p:spPr>
            <a:xfrm>
              <a:off x="762000" y="6477000"/>
              <a:ext cx="8191500" cy="2667000"/>
            </a:xfrm>
            <a:prstGeom prst="roundRect">
              <a:avLst>
                <a:gd fmla="val 5714" name="adj"/>
              </a:avLst>
            </a:prstGeom>
            <a:solidFill>
              <a:srgbClr val="1E1B4B"/>
            </a:solidFill>
            <a:ln cap="flat" cmpd="sng" w="19050">
              <a:solidFill>
                <a:srgbClr val="4338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g3e5283b25c0_0_19493"/>
            <p:cNvSpPr/>
            <p:nvPr/>
          </p:nvSpPr>
          <p:spPr>
            <a:xfrm>
              <a:off x="9239250" y="6477000"/>
              <a:ext cx="8191500" cy="2667000"/>
            </a:xfrm>
            <a:prstGeom prst="roundRect">
              <a:avLst>
                <a:gd fmla="val 5714" name="adj"/>
              </a:avLst>
            </a:prstGeom>
            <a:solidFill>
              <a:srgbClr val="1E1B4B"/>
            </a:solidFill>
            <a:ln cap="flat" cmpd="sng" w="19050">
              <a:solidFill>
                <a:srgbClr val="4338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g3e5283b25c0_0_19493"/>
            <p:cNvSpPr txBox="1"/>
            <p:nvPr/>
          </p:nvSpPr>
          <p:spPr>
            <a:xfrm>
              <a:off x="1047750" y="6762750"/>
              <a:ext cx="76200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>
                  <a:solidFill>
                    <a:srgbClr val="FACC1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business_center</a:t>
              </a:r>
              <a:endParaRPr b="1" i="0" sz="280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FACC15"/>
                  </a:solidFill>
                  <a:latin typeface="Inter"/>
                  <a:ea typeface="Inter"/>
                  <a:cs typeface="Inter"/>
                  <a:sym typeface="Inter"/>
                </a:rPr>
                <a:t>ENFOQUE DE NEGOCIO</a:t>
              </a:r>
              <a:endParaRPr b="1" i="0" sz="1600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1125"/>
                </a:spcAft>
                <a:buNone/>
              </a:pPr>
              <a:r>
                <a:rPr b="0" i="0"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NovaPay no es solo un modelo: </a:t>
              </a:r>
              <a:r>
                <a:rPr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son múltiples </a:t>
              </a:r>
              <a:r>
                <a:rPr b="1" i="0" lang="en-US" sz="20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capas de decisión operativa</a:t>
              </a:r>
              <a:r>
                <a:rPr b="0" i="0"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para equipos de riesgo.</a:t>
              </a:r>
              <a:endParaRPr b="1" i="0" sz="1600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48" name="Google Shape;648;g3e5283b25c0_0_19493"/>
            <p:cNvSpPr txBox="1"/>
            <p:nvPr/>
          </p:nvSpPr>
          <p:spPr>
            <a:xfrm>
              <a:off x="9525000" y="6509742"/>
              <a:ext cx="7620000" cy="2177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80">
                  <a:solidFill>
                    <a:srgbClr val="FACC1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endParaRPr b="1" sz="268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60">
                  <a:solidFill>
                    <a:srgbClr val="FACC15"/>
                  </a:solidFill>
                  <a:latin typeface="Inter"/>
                  <a:ea typeface="Inter"/>
                  <a:cs typeface="Inter"/>
                  <a:sym typeface="Inter"/>
                </a:rPr>
                <a:t>ENFOQUE TÉCNICO</a:t>
              </a:r>
              <a:endParaRPr b="1" sz="166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3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• Guía al experto para tomar mejores decisiones gracias a los cálculos del sistema.</a:t>
              </a:r>
              <a:endParaRPr b="1" sz="183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0" lang="en-US" sz="183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• Sistema robusto preparado para funcionar siempre sin interrupciones.</a:t>
              </a:r>
              <a:endParaRPr b="1" sz="183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0" lang="en-US" sz="183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• Sugiere medidas de seguridad claras para evitar riesgos.</a:t>
              </a:r>
              <a:endParaRPr b="1" sz="183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649" name="Google Shape;649;g3e5283b25c0_0_19493"/>
          <p:cNvSpPr/>
          <p:nvPr/>
        </p:nvSpPr>
        <p:spPr>
          <a:xfrm>
            <a:off x="0" y="0"/>
            <a:ext cx="140400" cy="10287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e5283b25c0_0_19493"/>
          <p:cNvSpPr txBox="1"/>
          <p:nvPr/>
        </p:nvSpPr>
        <p:spPr>
          <a:xfrm>
            <a:off x="573950" y="381000"/>
            <a:ext cx="2655900" cy="51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NovaPay</a:t>
            </a:r>
            <a:endParaRPr b="1" sz="2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1" name="Google Shape;651;g3e5283b25c0_0_19493"/>
          <p:cNvSpPr txBox="1"/>
          <p:nvPr/>
        </p:nvSpPr>
        <p:spPr>
          <a:xfrm>
            <a:off x="2571750" y="304800"/>
            <a:ext cx="6667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Detecta, Predice</a:t>
            </a:r>
            <a:r>
              <a:rPr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Protege</a:t>
            </a:r>
            <a:endParaRPr b="0" sz="1600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2" name="Google Shape;652;g3e5283b25c0_0_1949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g3e5283b25c0_0_172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4377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g3e5283b25c0_0_17288"/>
          <p:cNvSpPr txBox="1"/>
          <p:nvPr/>
        </p:nvSpPr>
        <p:spPr>
          <a:xfrm>
            <a:off x="762000" y="1333500"/>
            <a:ext cx="10477500" cy="95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INGESTA DE DATOS</a:t>
            </a:r>
            <a:endParaRPr b="0" sz="620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60" name="Google Shape;660;g3e5283b25c0_0_17288"/>
          <p:cNvSpPr/>
          <p:nvPr/>
        </p:nvSpPr>
        <p:spPr>
          <a:xfrm>
            <a:off x="14354175" y="457200"/>
            <a:ext cx="3352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b="0"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1" name="Google Shape;661;g3e5283b25c0_0_17288"/>
          <p:cNvSpPr txBox="1"/>
          <p:nvPr/>
        </p:nvSpPr>
        <p:spPr>
          <a:xfrm>
            <a:off x="762000" y="2286000"/>
            <a:ext cx="1143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Ingesta de datos en tiempo real Streaming</a:t>
            </a:r>
            <a:endParaRPr b="0" sz="186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62" name="Google Shape;662;g3e5283b25c0_0_17288"/>
          <p:cNvGrpSpPr/>
          <p:nvPr/>
        </p:nvGrpSpPr>
        <p:grpSpPr>
          <a:xfrm>
            <a:off x="2643188" y="3429000"/>
            <a:ext cx="3952800" cy="4000500"/>
            <a:chOff x="2643188" y="3429000"/>
            <a:chExt cx="3952800" cy="4000500"/>
          </a:xfrm>
        </p:grpSpPr>
        <p:sp>
          <p:nvSpPr>
            <p:cNvPr id="663" name="Google Shape;663;g3e5283b25c0_0_17288"/>
            <p:cNvSpPr/>
            <p:nvPr/>
          </p:nvSpPr>
          <p:spPr>
            <a:xfrm>
              <a:off x="2643188" y="3429000"/>
              <a:ext cx="3952800" cy="4000500"/>
            </a:xfrm>
            <a:prstGeom prst="roundRect">
              <a:avLst>
                <a:gd fmla="val 3854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g3e5283b25c0_0_17288"/>
            <p:cNvSpPr/>
            <p:nvPr/>
          </p:nvSpPr>
          <p:spPr>
            <a:xfrm>
              <a:off x="2643188" y="3429000"/>
              <a:ext cx="3952800" cy="762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g3e5283b25c0_0_17288"/>
            <p:cNvSpPr txBox="1"/>
            <p:nvPr/>
          </p:nvSpPr>
          <p:spPr>
            <a:xfrm>
              <a:off x="2928938" y="3925062"/>
              <a:ext cx="952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b="0" i="0" sz="48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66" name="Google Shape;666;g3e5283b25c0_0_17288"/>
            <p:cNvSpPr txBox="1"/>
            <p:nvPr/>
          </p:nvSpPr>
          <p:spPr>
            <a:xfrm>
              <a:off x="2928938" y="4572000"/>
              <a:ext cx="33813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Producer</a:t>
              </a:r>
              <a:endParaRPr b="1" i="0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1125"/>
                </a:spcAft>
                <a:buNone/>
              </a:pPr>
              <a:r>
                <a:rPr b="0" i="0" lang="en-US" sz="1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Simula transacciones del mundo real. Tanto Fraudulentas como legitimas de forma aleatoria. Aproximandose a la realidad.</a:t>
              </a:r>
              <a:endParaRPr b="1" i="0" sz="1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67" name="Google Shape;667;g3e5283b25c0_0_17288"/>
          <p:cNvGrpSpPr/>
          <p:nvPr/>
        </p:nvGrpSpPr>
        <p:grpSpPr>
          <a:xfrm>
            <a:off x="7167563" y="3429000"/>
            <a:ext cx="3952800" cy="4000500"/>
            <a:chOff x="7167563" y="3429000"/>
            <a:chExt cx="3952800" cy="4000500"/>
          </a:xfrm>
        </p:grpSpPr>
        <p:sp>
          <p:nvSpPr>
            <p:cNvPr id="668" name="Google Shape;668;g3e5283b25c0_0_17288"/>
            <p:cNvSpPr/>
            <p:nvPr/>
          </p:nvSpPr>
          <p:spPr>
            <a:xfrm>
              <a:off x="7167563" y="3429000"/>
              <a:ext cx="3952800" cy="4000500"/>
            </a:xfrm>
            <a:prstGeom prst="roundRect">
              <a:avLst>
                <a:gd fmla="val 3854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g3e5283b25c0_0_17288"/>
            <p:cNvSpPr/>
            <p:nvPr/>
          </p:nvSpPr>
          <p:spPr>
            <a:xfrm>
              <a:off x="7167563" y="3429000"/>
              <a:ext cx="3952800" cy="76200"/>
            </a:xfrm>
            <a:prstGeom prst="roundRect">
              <a:avLst>
                <a:gd fmla="val 50000" name="adj"/>
              </a:avLst>
            </a:prstGeom>
            <a:solidFill>
              <a:srgbClr val="C084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g3e5283b25c0_0_17288"/>
            <p:cNvSpPr txBox="1"/>
            <p:nvPr/>
          </p:nvSpPr>
          <p:spPr>
            <a:xfrm>
              <a:off x="7453313" y="3925062"/>
              <a:ext cx="952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800">
                  <a:solidFill>
                    <a:srgbClr val="C084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b="0" i="0" sz="4800">
                <a:solidFill>
                  <a:srgbClr val="C084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71" name="Google Shape;671;g3e5283b25c0_0_17288"/>
            <p:cNvSpPr txBox="1"/>
            <p:nvPr/>
          </p:nvSpPr>
          <p:spPr>
            <a:xfrm>
              <a:off x="7453313" y="4572000"/>
              <a:ext cx="33813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Apache Kafka</a:t>
              </a:r>
              <a:endParaRPr b="1" i="0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1125"/>
                </a:spcAft>
                <a:buNone/>
              </a:pPr>
              <a:r>
                <a:rPr b="0" i="0"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Recibe esas transacciones. Las almacena y las pone en cola. Garantizando que nunca se pierdan.</a:t>
              </a:r>
              <a:endParaRPr b="1" i="0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72" name="Google Shape;672;g3e5283b25c0_0_17288"/>
          <p:cNvGrpSpPr/>
          <p:nvPr/>
        </p:nvGrpSpPr>
        <p:grpSpPr>
          <a:xfrm>
            <a:off x="11691938" y="3429000"/>
            <a:ext cx="3952800" cy="4000500"/>
            <a:chOff x="11691938" y="3429000"/>
            <a:chExt cx="3952800" cy="4000500"/>
          </a:xfrm>
        </p:grpSpPr>
        <p:sp>
          <p:nvSpPr>
            <p:cNvPr id="673" name="Google Shape;673;g3e5283b25c0_0_17288"/>
            <p:cNvSpPr/>
            <p:nvPr/>
          </p:nvSpPr>
          <p:spPr>
            <a:xfrm>
              <a:off x="11691938" y="3429000"/>
              <a:ext cx="3952800" cy="4000500"/>
            </a:xfrm>
            <a:prstGeom prst="roundRect">
              <a:avLst>
                <a:gd fmla="val 3854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g3e5283b25c0_0_17288"/>
            <p:cNvSpPr/>
            <p:nvPr/>
          </p:nvSpPr>
          <p:spPr>
            <a:xfrm>
              <a:off x="11691938" y="3429000"/>
              <a:ext cx="3952800" cy="76200"/>
            </a:xfrm>
            <a:prstGeom prst="roundRect">
              <a:avLst>
                <a:gd fmla="val 50000" name="adj"/>
              </a:avLst>
            </a:prstGeom>
            <a:solidFill>
              <a:srgbClr val="B4A7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g3e5283b25c0_0_17288"/>
            <p:cNvSpPr txBox="1"/>
            <p:nvPr/>
          </p:nvSpPr>
          <p:spPr>
            <a:xfrm>
              <a:off x="11977688" y="3925062"/>
              <a:ext cx="952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800">
                  <a:solidFill>
                    <a:srgbClr val="B4A7D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api</a:t>
              </a:r>
              <a:endParaRPr b="0" i="0" sz="4800">
                <a:solidFill>
                  <a:srgbClr val="B4A7D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76" name="Google Shape;676;g3e5283b25c0_0_17288"/>
            <p:cNvSpPr txBox="1"/>
            <p:nvPr/>
          </p:nvSpPr>
          <p:spPr>
            <a:xfrm>
              <a:off x="11977688" y="4572000"/>
              <a:ext cx="33813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Consumer</a:t>
              </a:r>
              <a:endParaRPr b="1" i="0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1125"/>
                </a:spcAft>
                <a:buNone/>
              </a:pPr>
              <a:r>
                <a:rPr b="0" i="0" lang="en-US" sz="1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Conecta Apache Kafka con la FAST API.</a:t>
              </a:r>
              <a:endParaRPr b="1" i="0" sz="1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77" name="Google Shape;677;g3e5283b25c0_0_17288"/>
          <p:cNvSpPr/>
          <p:nvPr/>
        </p:nvSpPr>
        <p:spPr>
          <a:xfrm>
            <a:off x="0" y="0"/>
            <a:ext cx="140400" cy="10287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g3e5283b25c0_0_17288"/>
          <p:cNvSpPr txBox="1"/>
          <p:nvPr/>
        </p:nvSpPr>
        <p:spPr>
          <a:xfrm>
            <a:off x="573950" y="381000"/>
            <a:ext cx="2655900" cy="51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NovaPay</a:t>
            </a:r>
            <a:endParaRPr b="1" sz="2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9" name="Google Shape;679;g3e5283b25c0_0_17288"/>
          <p:cNvSpPr txBox="1"/>
          <p:nvPr/>
        </p:nvSpPr>
        <p:spPr>
          <a:xfrm>
            <a:off x="2571750" y="304800"/>
            <a:ext cx="6667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Detecta, Predice</a:t>
            </a:r>
            <a:r>
              <a:rPr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Protege</a:t>
            </a:r>
            <a:endParaRPr b="0" sz="1600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0" name="Google Shape;680;g3e5283b25c0_0_17288"/>
          <p:cNvSpPr txBox="1"/>
          <p:nvPr/>
        </p:nvSpPr>
        <p:spPr>
          <a:xfrm>
            <a:off x="3580175" y="8727900"/>
            <a:ext cx="12120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API</a:t>
            </a:r>
            <a:endParaRPr b="1" sz="2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1" name="Google Shape;681;g3e5283b25c0_0_17288"/>
          <p:cNvSpPr txBox="1"/>
          <p:nvPr/>
        </p:nvSpPr>
        <p:spPr>
          <a:xfrm>
            <a:off x="6352225" y="8727900"/>
            <a:ext cx="1911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FILTROS</a:t>
            </a:r>
            <a:endParaRPr b="1" sz="2300">
              <a:solidFill>
                <a:srgbClr val="C084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82" name="Google Shape;682;g3e5283b25c0_0_17288"/>
          <p:cNvGrpSpPr/>
          <p:nvPr/>
        </p:nvGrpSpPr>
        <p:grpSpPr>
          <a:xfrm>
            <a:off x="573950" y="8305800"/>
            <a:ext cx="16952050" cy="1128080"/>
            <a:chOff x="573950" y="8305800"/>
            <a:chExt cx="16952050" cy="1128080"/>
          </a:xfrm>
        </p:grpSpPr>
        <p:sp>
          <p:nvSpPr>
            <p:cNvPr id="683" name="Google Shape;683;g3e5283b25c0_0_17288"/>
            <p:cNvSpPr/>
            <p:nvPr/>
          </p:nvSpPr>
          <p:spPr>
            <a:xfrm>
              <a:off x="762000" y="8382000"/>
              <a:ext cx="16764000" cy="38100"/>
            </a:xfrm>
            <a:prstGeom prst="roundRect">
              <a:avLst>
                <a:gd fmla="val 50000" name="adj"/>
              </a:avLst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g3e5283b25c0_0_17288"/>
            <p:cNvSpPr/>
            <p:nvPr/>
          </p:nvSpPr>
          <p:spPr>
            <a:xfrm>
              <a:off x="1047750" y="8305800"/>
              <a:ext cx="190500" cy="1905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g3e5283b25c0_0_17288"/>
            <p:cNvSpPr/>
            <p:nvPr/>
          </p:nvSpPr>
          <p:spPr>
            <a:xfrm>
              <a:off x="4019550" y="8324850"/>
              <a:ext cx="152400" cy="152400"/>
            </a:xfrm>
            <a:prstGeom prst="ellipse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g3e5283b25c0_0_17288"/>
            <p:cNvSpPr/>
            <p:nvPr/>
          </p:nvSpPr>
          <p:spPr>
            <a:xfrm>
              <a:off x="6848325" y="8324850"/>
              <a:ext cx="152400" cy="152400"/>
            </a:xfrm>
            <a:prstGeom prst="ellipse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g3e5283b25c0_0_17288"/>
            <p:cNvSpPr/>
            <p:nvPr/>
          </p:nvSpPr>
          <p:spPr>
            <a:xfrm>
              <a:off x="11049000" y="8324850"/>
              <a:ext cx="152400" cy="152400"/>
            </a:xfrm>
            <a:prstGeom prst="ellipse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g3e5283b25c0_0_17288"/>
            <p:cNvSpPr txBox="1"/>
            <p:nvPr/>
          </p:nvSpPr>
          <p:spPr>
            <a:xfrm>
              <a:off x="573950" y="8674880"/>
              <a:ext cx="1911600" cy="7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00">
                  <a:solidFill>
                    <a:srgbClr val="C084FC"/>
                  </a:solidFill>
                  <a:latin typeface="Inter"/>
                  <a:ea typeface="Inter"/>
                  <a:cs typeface="Inter"/>
                  <a:sym typeface="Inter"/>
                </a:rPr>
                <a:t>INGESTA</a:t>
              </a:r>
              <a:endParaRPr b="1" sz="2300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00">
                  <a:solidFill>
                    <a:srgbClr val="C084FC"/>
                  </a:solidFill>
                  <a:latin typeface="Inter"/>
                  <a:ea typeface="Inter"/>
                  <a:cs typeface="Inter"/>
                  <a:sym typeface="Inter"/>
                </a:rPr>
                <a:t>DE DATOS</a:t>
              </a:r>
              <a:endParaRPr b="1" sz="2300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89" name="Google Shape;689;g3e5283b25c0_0_1728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0" name="Google Shape;690;g3e5283b25c0_0_17288"/>
          <p:cNvSpPr txBox="1"/>
          <p:nvPr/>
        </p:nvSpPr>
        <p:spPr>
          <a:xfrm>
            <a:off x="9315450" y="8731475"/>
            <a:ext cx="4391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MODELO Y APLICACIÓN</a:t>
            </a:r>
            <a:endParaRPr b="1" sz="2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Google Shape;696;g3e5283b25c0_0_165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50" y="2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g3e5283b25c0_0_16588"/>
          <p:cNvSpPr txBox="1"/>
          <p:nvPr/>
        </p:nvSpPr>
        <p:spPr>
          <a:xfrm>
            <a:off x="762000" y="1333500"/>
            <a:ext cx="10477500" cy="95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2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FILTROS DE VALIDACIÓN</a:t>
            </a:r>
            <a:endParaRPr b="0" sz="620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698" name="Google Shape;698;g3e5283b25c0_0_16588"/>
          <p:cNvSpPr/>
          <p:nvPr/>
        </p:nvSpPr>
        <p:spPr>
          <a:xfrm>
            <a:off x="14354175" y="457200"/>
            <a:ext cx="3352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Filtros</a:t>
            </a:r>
            <a:endParaRPr b="0"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9" name="Google Shape;699;g3e5283b25c0_0_16588"/>
          <p:cNvSpPr txBox="1"/>
          <p:nvPr/>
        </p:nvSpPr>
        <p:spPr>
          <a:xfrm>
            <a:off x="762000" y="2286000"/>
            <a:ext cx="1143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6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nivel de API, se realizan validaciones antes del modelo para </a:t>
            </a:r>
            <a:r>
              <a:rPr b="1" lang="en-US" sz="18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evitar transacciones maliciosas</a:t>
            </a:r>
            <a:r>
              <a:rPr b="0" lang="en-US" sz="186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86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00" name="Google Shape;700;g3e5283b25c0_0_16588"/>
          <p:cNvGrpSpPr/>
          <p:nvPr/>
        </p:nvGrpSpPr>
        <p:grpSpPr>
          <a:xfrm>
            <a:off x="762000" y="3429000"/>
            <a:ext cx="3952800" cy="4000500"/>
            <a:chOff x="762000" y="3429000"/>
            <a:chExt cx="3952800" cy="4000500"/>
          </a:xfrm>
        </p:grpSpPr>
        <p:sp>
          <p:nvSpPr>
            <p:cNvPr id="701" name="Google Shape;701;g3e5283b25c0_0_16588"/>
            <p:cNvSpPr/>
            <p:nvPr/>
          </p:nvSpPr>
          <p:spPr>
            <a:xfrm>
              <a:off x="762000" y="3429000"/>
              <a:ext cx="3952800" cy="4000500"/>
            </a:xfrm>
            <a:prstGeom prst="roundRect">
              <a:avLst>
                <a:gd fmla="val 3855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g3e5283b25c0_0_16588"/>
            <p:cNvSpPr/>
            <p:nvPr/>
          </p:nvSpPr>
          <p:spPr>
            <a:xfrm>
              <a:off x="762000" y="3429000"/>
              <a:ext cx="3952800" cy="762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g3e5283b25c0_0_16588"/>
            <p:cNvSpPr txBox="1"/>
            <p:nvPr/>
          </p:nvSpPr>
          <p:spPr>
            <a:xfrm>
              <a:off x="1047750" y="3784854"/>
              <a:ext cx="952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content_copy</a:t>
              </a:r>
              <a:endParaRPr b="0" sz="48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04" name="Google Shape;704;g3e5283b25c0_0_16588"/>
            <p:cNvSpPr txBox="1"/>
            <p:nvPr/>
          </p:nvSpPr>
          <p:spPr>
            <a:xfrm>
              <a:off x="1047750" y="4572000"/>
              <a:ext cx="33813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Transacciones duplicadas</a:t>
              </a:r>
              <a:endParaRPr b="1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Si se realizan varias peticiones iguales con el mismo ID de transacción, son rechazadas automáticamente.</a:t>
              </a:r>
              <a:endParaRPr b="0" sz="1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05" name="Google Shape;705;g3e5283b25c0_0_16588"/>
          <p:cNvGrpSpPr/>
          <p:nvPr/>
        </p:nvGrpSpPr>
        <p:grpSpPr>
          <a:xfrm>
            <a:off x="5000625" y="3429000"/>
            <a:ext cx="3952800" cy="4000500"/>
            <a:chOff x="5000625" y="3429000"/>
            <a:chExt cx="3952800" cy="4000500"/>
          </a:xfrm>
        </p:grpSpPr>
        <p:sp>
          <p:nvSpPr>
            <p:cNvPr id="706" name="Google Shape;706;g3e5283b25c0_0_16588"/>
            <p:cNvSpPr/>
            <p:nvPr/>
          </p:nvSpPr>
          <p:spPr>
            <a:xfrm>
              <a:off x="5000625" y="3429000"/>
              <a:ext cx="3952800" cy="4000500"/>
            </a:xfrm>
            <a:prstGeom prst="roundRect">
              <a:avLst>
                <a:gd fmla="val 3855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g3e5283b25c0_0_16588"/>
            <p:cNvSpPr/>
            <p:nvPr/>
          </p:nvSpPr>
          <p:spPr>
            <a:xfrm>
              <a:off x="5000625" y="3429000"/>
              <a:ext cx="3952800" cy="76200"/>
            </a:xfrm>
            <a:prstGeom prst="roundRect">
              <a:avLst>
                <a:gd fmla="val 50000" name="adj"/>
              </a:avLst>
            </a:prstGeom>
            <a:solidFill>
              <a:srgbClr val="C084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g3e5283b25c0_0_16588"/>
            <p:cNvSpPr txBox="1"/>
            <p:nvPr/>
          </p:nvSpPr>
          <p:spPr>
            <a:xfrm>
              <a:off x="5286375" y="3784854"/>
              <a:ext cx="952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C084F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person_search</a:t>
              </a:r>
              <a:endParaRPr b="0" sz="4800">
                <a:solidFill>
                  <a:srgbClr val="C084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09" name="Google Shape;709;g3e5283b25c0_0_16588"/>
            <p:cNvSpPr txBox="1"/>
            <p:nvPr/>
          </p:nvSpPr>
          <p:spPr>
            <a:xfrm>
              <a:off x="5286375" y="4572000"/>
              <a:ext cx="33813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¿Existe el usuario?</a:t>
              </a:r>
              <a:endParaRPr b="1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Verificación de integridad que comprueba si el usuario solicitante existe en la base de datos de clientes.</a:t>
              </a:r>
              <a:endParaRPr b="0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10" name="Google Shape;710;g3e5283b25c0_0_16588"/>
          <p:cNvGrpSpPr/>
          <p:nvPr/>
        </p:nvGrpSpPr>
        <p:grpSpPr>
          <a:xfrm>
            <a:off x="9239250" y="3429000"/>
            <a:ext cx="3952800" cy="4000500"/>
            <a:chOff x="9239250" y="3429000"/>
            <a:chExt cx="3952800" cy="4000500"/>
          </a:xfrm>
        </p:grpSpPr>
        <p:sp>
          <p:nvSpPr>
            <p:cNvPr id="711" name="Google Shape;711;g3e5283b25c0_0_16588"/>
            <p:cNvSpPr/>
            <p:nvPr/>
          </p:nvSpPr>
          <p:spPr>
            <a:xfrm>
              <a:off x="9239250" y="3429000"/>
              <a:ext cx="3952800" cy="4000500"/>
            </a:xfrm>
            <a:prstGeom prst="roundRect">
              <a:avLst>
                <a:gd fmla="val 3855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g3e5283b25c0_0_16588"/>
            <p:cNvSpPr/>
            <p:nvPr/>
          </p:nvSpPr>
          <p:spPr>
            <a:xfrm>
              <a:off x="9239250" y="3429000"/>
              <a:ext cx="3952800" cy="76200"/>
            </a:xfrm>
            <a:prstGeom prst="roundRect">
              <a:avLst>
                <a:gd fmla="val 50000" name="adj"/>
              </a:avLst>
            </a:prstGeom>
            <a:solidFill>
              <a:srgbClr val="B4A7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g3e5283b25c0_0_16588"/>
            <p:cNvSpPr txBox="1"/>
            <p:nvPr/>
          </p:nvSpPr>
          <p:spPr>
            <a:xfrm>
              <a:off x="9525000" y="3784854"/>
              <a:ext cx="952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B4A7D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block</a:t>
              </a:r>
              <a:endParaRPr b="0" sz="4800">
                <a:solidFill>
                  <a:srgbClr val="B4A7D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14" name="Google Shape;714;g3e5283b25c0_0_16588"/>
            <p:cNvSpPr txBox="1"/>
            <p:nvPr/>
          </p:nvSpPr>
          <p:spPr>
            <a:xfrm>
              <a:off x="9525000" y="4572000"/>
              <a:ext cx="33813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¿Está bloqueado?</a:t>
              </a:r>
              <a:endParaRPr b="1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Filtro de seguridad que verifica que el usuario no tenga restricciones activas para operar transacciones.</a:t>
              </a:r>
              <a:endParaRPr b="0" sz="1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15" name="Google Shape;715;g3e5283b25c0_0_16588"/>
          <p:cNvGrpSpPr/>
          <p:nvPr/>
        </p:nvGrpSpPr>
        <p:grpSpPr>
          <a:xfrm>
            <a:off x="13477875" y="3429000"/>
            <a:ext cx="3952800" cy="4000500"/>
            <a:chOff x="13477875" y="3429000"/>
            <a:chExt cx="3952800" cy="4000500"/>
          </a:xfrm>
        </p:grpSpPr>
        <p:sp>
          <p:nvSpPr>
            <p:cNvPr id="716" name="Google Shape;716;g3e5283b25c0_0_16588"/>
            <p:cNvSpPr/>
            <p:nvPr/>
          </p:nvSpPr>
          <p:spPr>
            <a:xfrm>
              <a:off x="13477875" y="3429000"/>
              <a:ext cx="3952800" cy="4000500"/>
            </a:xfrm>
            <a:prstGeom prst="roundRect">
              <a:avLst>
                <a:gd fmla="val 3855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g3e5283b25c0_0_16588"/>
            <p:cNvSpPr/>
            <p:nvPr/>
          </p:nvSpPr>
          <p:spPr>
            <a:xfrm>
              <a:off x="13477875" y="3429000"/>
              <a:ext cx="3952800" cy="76200"/>
            </a:xfrm>
            <a:prstGeom prst="roundRect">
              <a:avLst>
                <a:gd fmla="val 50000" name="adj"/>
              </a:avLst>
            </a:prstGeom>
            <a:solidFill>
              <a:srgbClr val="EAD1D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g3e5283b25c0_0_16588"/>
            <p:cNvSpPr txBox="1"/>
            <p:nvPr/>
          </p:nvSpPr>
          <p:spPr>
            <a:xfrm>
              <a:off x="13763625" y="3784854"/>
              <a:ext cx="952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EAD1D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</a:t>
              </a:r>
              <a:endParaRPr b="0" sz="4800">
                <a:solidFill>
                  <a:srgbClr val="EAD1D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19" name="Google Shape;719;g3e5283b25c0_0_16588"/>
            <p:cNvSpPr txBox="1"/>
            <p:nvPr/>
          </p:nvSpPr>
          <p:spPr>
            <a:xfrm>
              <a:off x="13763625" y="4572000"/>
              <a:ext cx="33813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Número de intentos</a:t>
              </a:r>
              <a:endParaRPr b="1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Límite de frecuencia: </a:t>
              </a:r>
              <a:r>
                <a:rPr lang="en-US" sz="1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si se detectan transacciones rápidas en un tiempo imposible para un cliente se cancela.</a:t>
              </a:r>
              <a:endParaRPr b="0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0" name="Google Shape;720;g3e5283b25c0_0_16588"/>
          <p:cNvGrpSpPr/>
          <p:nvPr/>
        </p:nvGrpSpPr>
        <p:grpSpPr>
          <a:xfrm>
            <a:off x="573950" y="8305800"/>
            <a:ext cx="16952050" cy="1023900"/>
            <a:chOff x="573950" y="8305800"/>
            <a:chExt cx="16952050" cy="1023900"/>
          </a:xfrm>
        </p:grpSpPr>
        <p:sp>
          <p:nvSpPr>
            <p:cNvPr id="721" name="Google Shape;721;g3e5283b25c0_0_16588"/>
            <p:cNvSpPr/>
            <p:nvPr/>
          </p:nvSpPr>
          <p:spPr>
            <a:xfrm>
              <a:off x="762000" y="8382000"/>
              <a:ext cx="16764000" cy="38100"/>
            </a:xfrm>
            <a:prstGeom prst="roundRect">
              <a:avLst>
                <a:gd fmla="val 50000" name="adj"/>
              </a:avLst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g3e5283b25c0_0_16588"/>
            <p:cNvSpPr/>
            <p:nvPr/>
          </p:nvSpPr>
          <p:spPr>
            <a:xfrm>
              <a:off x="6879250" y="8305800"/>
              <a:ext cx="190500" cy="1905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g3e5283b25c0_0_16588"/>
            <p:cNvSpPr/>
            <p:nvPr/>
          </p:nvSpPr>
          <p:spPr>
            <a:xfrm>
              <a:off x="4019550" y="8324850"/>
              <a:ext cx="152400" cy="152400"/>
            </a:xfrm>
            <a:prstGeom prst="ellipse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g3e5283b25c0_0_16588"/>
            <p:cNvSpPr/>
            <p:nvPr/>
          </p:nvSpPr>
          <p:spPr>
            <a:xfrm>
              <a:off x="1239150" y="8324850"/>
              <a:ext cx="152400" cy="152400"/>
            </a:xfrm>
            <a:prstGeom prst="ellipse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g3e5283b25c0_0_16588"/>
            <p:cNvSpPr/>
            <p:nvPr/>
          </p:nvSpPr>
          <p:spPr>
            <a:xfrm>
              <a:off x="12877800" y="8324850"/>
              <a:ext cx="152400" cy="152400"/>
            </a:xfrm>
            <a:prstGeom prst="ellipse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g3e5283b25c0_0_16588"/>
            <p:cNvSpPr txBox="1"/>
            <p:nvPr/>
          </p:nvSpPr>
          <p:spPr>
            <a:xfrm>
              <a:off x="573950" y="8570700"/>
              <a:ext cx="1911600" cy="7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INGESTA</a:t>
              </a:r>
              <a:endParaRPr b="1" sz="2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DE DATOS</a:t>
              </a:r>
              <a:endParaRPr b="1" sz="2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27" name="Google Shape;727;g3e5283b25c0_0_16588"/>
          <p:cNvSpPr/>
          <p:nvPr/>
        </p:nvSpPr>
        <p:spPr>
          <a:xfrm>
            <a:off x="0" y="0"/>
            <a:ext cx="140400" cy="10287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g3e5283b25c0_0_16588"/>
          <p:cNvSpPr txBox="1"/>
          <p:nvPr/>
        </p:nvSpPr>
        <p:spPr>
          <a:xfrm>
            <a:off x="573950" y="381000"/>
            <a:ext cx="2655900" cy="51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NovaPay</a:t>
            </a:r>
            <a:endParaRPr b="1" sz="2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9" name="Google Shape;729;g3e5283b25c0_0_16588"/>
          <p:cNvSpPr txBox="1"/>
          <p:nvPr/>
        </p:nvSpPr>
        <p:spPr>
          <a:xfrm>
            <a:off x="2571750" y="304800"/>
            <a:ext cx="6667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Detecta, Predice</a:t>
            </a:r>
            <a:r>
              <a:rPr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Protege</a:t>
            </a:r>
            <a:endParaRPr b="0" sz="1600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0" name="Google Shape;730;g3e5283b25c0_0_16588"/>
          <p:cNvSpPr txBox="1"/>
          <p:nvPr/>
        </p:nvSpPr>
        <p:spPr>
          <a:xfrm>
            <a:off x="3089025" y="8727900"/>
            <a:ext cx="1911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API</a:t>
            </a:r>
            <a:endParaRPr b="1" sz="2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1" name="Google Shape;731;g3e5283b25c0_0_16588"/>
          <p:cNvSpPr txBox="1"/>
          <p:nvPr/>
        </p:nvSpPr>
        <p:spPr>
          <a:xfrm>
            <a:off x="6352225" y="8727900"/>
            <a:ext cx="1911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FILTROS</a:t>
            </a:r>
            <a:endParaRPr b="1" sz="2300">
              <a:solidFill>
                <a:srgbClr val="C084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2" name="Google Shape;732;g3e5283b25c0_0_16588"/>
          <p:cNvSpPr/>
          <p:nvPr/>
        </p:nvSpPr>
        <p:spPr>
          <a:xfrm>
            <a:off x="9777050" y="8327525"/>
            <a:ext cx="152400" cy="1524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g3e5283b25c0_0_1658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4" name="Google Shape;734;g3e5283b25c0_0_16588"/>
          <p:cNvSpPr txBox="1"/>
          <p:nvPr/>
        </p:nvSpPr>
        <p:spPr>
          <a:xfrm>
            <a:off x="9315450" y="8731475"/>
            <a:ext cx="4391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MODELO Y APLICACIÓN</a:t>
            </a:r>
            <a:endParaRPr b="1" sz="2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g3e5283b25c0_0_186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00" y="83902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g3e5283b25c0_0_18632"/>
          <p:cNvSpPr txBox="1"/>
          <p:nvPr/>
        </p:nvSpPr>
        <p:spPr>
          <a:xfrm>
            <a:off x="762000" y="1333500"/>
            <a:ext cx="10477500" cy="95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MODELO Y APLICACIÓN</a:t>
            </a:r>
            <a:endParaRPr b="0" sz="620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742" name="Google Shape;742;g3e5283b25c0_0_18632"/>
          <p:cNvSpPr/>
          <p:nvPr/>
        </p:nvSpPr>
        <p:spPr>
          <a:xfrm>
            <a:off x="14354175" y="457200"/>
            <a:ext cx="3352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Modelo</a:t>
            </a:r>
            <a:endParaRPr b="0"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3" name="Google Shape;743;g3e5283b25c0_0_18632"/>
          <p:cNvSpPr txBox="1"/>
          <p:nvPr/>
        </p:nvSpPr>
        <p:spPr>
          <a:xfrm>
            <a:off x="762000" y="2286000"/>
            <a:ext cx="1143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Aprendizaje automático e implementación</a:t>
            </a:r>
            <a:endParaRPr b="0" sz="186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44" name="Google Shape;744;g3e5283b25c0_0_18632"/>
          <p:cNvGrpSpPr/>
          <p:nvPr/>
        </p:nvGrpSpPr>
        <p:grpSpPr>
          <a:xfrm>
            <a:off x="3929088" y="3429000"/>
            <a:ext cx="3952800" cy="4000500"/>
            <a:chOff x="2643188" y="3429000"/>
            <a:chExt cx="3952800" cy="4000500"/>
          </a:xfrm>
        </p:grpSpPr>
        <p:sp>
          <p:nvSpPr>
            <p:cNvPr id="745" name="Google Shape;745;g3e5283b25c0_0_18632"/>
            <p:cNvSpPr/>
            <p:nvPr/>
          </p:nvSpPr>
          <p:spPr>
            <a:xfrm>
              <a:off x="2643188" y="3429000"/>
              <a:ext cx="3952800" cy="4000500"/>
            </a:xfrm>
            <a:prstGeom prst="roundRect">
              <a:avLst>
                <a:gd fmla="val 3854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g3e5283b25c0_0_18632"/>
            <p:cNvSpPr/>
            <p:nvPr/>
          </p:nvSpPr>
          <p:spPr>
            <a:xfrm>
              <a:off x="2643188" y="3429000"/>
              <a:ext cx="3952800" cy="762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g3e5283b25c0_0_18632"/>
            <p:cNvSpPr txBox="1"/>
            <p:nvPr/>
          </p:nvSpPr>
          <p:spPr>
            <a:xfrm>
              <a:off x="2928938" y="3925062"/>
              <a:ext cx="952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b="0" i="0" sz="48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48" name="Google Shape;748;g3e5283b25c0_0_18632"/>
            <p:cNvSpPr txBox="1"/>
            <p:nvPr/>
          </p:nvSpPr>
          <p:spPr>
            <a:xfrm>
              <a:off x="2928938" y="4572000"/>
              <a:ext cx="33813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Modelo</a:t>
              </a:r>
              <a:endParaRPr b="1" i="0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1125"/>
                </a:spcAft>
                <a:buNone/>
              </a:pPr>
              <a:r>
                <a:rPr lang="en-US" sz="1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Analiza en tiempo real la transacción para determinal la probabilidad predictiva que sea fraude o no</a:t>
              </a:r>
              <a:endParaRPr b="1" i="0" sz="1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9" name="Google Shape;749;g3e5283b25c0_0_18632"/>
          <p:cNvGrpSpPr/>
          <p:nvPr/>
        </p:nvGrpSpPr>
        <p:grpSpPr>
          <a:xfrm>
            <a:off x="573950" y="8308475"/>
            <a:ext cx="16952050" cy="1155170"/>
            <a:chOff x="573950" y="8308475"/>
            <a:chExt cx="16952050" cy="1155170"/>
          </a:xfrm>
        </p:grpSpPr>
        <p:sp>
          <p:nvSpPr>
            <p:cNvPr id="750" name="Google Shape;750;g3e5283b25c0_0_18632"/>
            <p:cNvSpPr/>
            <p:nvPr/>
          </p:nvSpPr>
          <p:spPr>
            <a:xfrm>
              <a:off x="762000" y="8382000"/>
              <a:ext cx="16764000" cy="38100"/>
            </a:xfrm>
            <a:prstGeom prst="roundRect">
              <a:avLst>
                <a:gd fmla="val 50000" name="adj"/>
              </a:avLst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g3e5283b25c0_0_18632"/>
            <p:cNvSpPr/>
            <p:nvPr/>
          </p:nvSpPr>
          <p:spPr>
            <a:xfrm>
              <a:off x="11308375" y="8308475"/>
              <a:ext cx="190500" cy="1905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g3e5283b25c0_0_18632"/>
            <p:cNvSpPr/>
            <p:nvPr/>
          </p:nvSpPr>
          <p:spPr>
            <a:xfrm>
              <a:off x="4019550" y="8324850"/>
              <a:ext cx="152400" cy="152400"/>
            </a:xfrm>
            <a:prstGeom prst="ellipse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g3e5283b25c0_0_18632"/>
            <p:cNvSpPr/>
            <p:nvPr/>
          </p:nvSpPr>
          <p:spPr>
            <a:xfrm>
              <a:off x="6848325" y="8324850"/>
              <a:ext cx="152400" cy="152400"/>
            </a:xfrm>
            <a:prstGeom prst="ellipse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g3e5283b25c0_0_18632"/>
            <p:cNvSpPr txBox="1"/>
            <p:nvPr/>
          </p:nvSpPr>
          <p:spPr>
            <a:xfrm>
              <a:off x="573950" y="8704645"/>
              <a:ext cx="1911600" cy="7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INGESTA DE DATOS</a:t>
              </a:r>
              <a:endParaRPr b="1" sz="2300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55" name="Google Shape;755;g3e5283b25c0_0_18632"/>
          <p:cNvSpPr/>
          <p:nvPr/>
        </p:nvSpPr>
        <p:spPr>
          <a:xfrm>
            <a:off x="0" y="0"/>
            <a:ext cx="140400" cy="10287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g3e5283b25c0_0_18632"/>
          <p:cNvSpPr txBox="1"/>
          <p:nvPr/>
        </p:nvSpPr>
        <p:spPr>
          <a:xfrm>
            <a:off x="573950" y="381000"/>
            <a:ext cx="2655900" cy="51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NovaPay</a:t>
            </a:r>
            <a:endParaRPr b="1" sz="2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Google Shape;757;g3e5283b25c0_0_18632"/>
          <p:cNvSpPr txBox="1"/>
          <p:nvPr/>
        </p:nvSpPr>
        <p:spPr>
          <a:xfrm>
            <a:off x="2571750" y="304800"/>
            <a:ext cx="6667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Detecta, Predice</a:t>
            </a:r>
            <a:r>
              <a:rPr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Protege</a:t>
            </a:r>
            <a:endParaRPr b="0" sz="1600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Google Shape;758;g3e5283b25c0_0_18632"/>
          <p:cNvSpPr txBox="1"/>
          <p:nvPr/>
        </p:nvSpPr>
        <p:spPr>
          <a:xfrm>
            <a:off x="3089025" y="8727900"/>
            <a:ext cx="1911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API</a:t>
            </a:r>
            <a:endParaRPr b="1" sz="2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9" name="Google Shape;759;g3e5283b25c0_0_18632"/>
          <p:cNvSpPr txBox="1"/>
          <p:nvPr/>
        </p:nvSpPr>
        <p:spPr>
          <a:xfrm>
            <a:off x="6352225" y="8727900"/>
            <a:ext cx="1911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FILTROS</a:t>
            </a:r>
            <a:endParaRPr b="1" sz="2300">
              <a:solidFill>
                <a:srgbClr val="C084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0" name="Google Shape;760;g3e5283b25c0_0_18632"/>
          <p:cNvSpPr txBox="1"/>
          <p:nvPr/>
        </p:nvSpPr>
        <p:spPr>
          <a:xfrm>
            <a:off x="9315450" y="8731475"/>
            <a:ext cx="4391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C084FC"/>
                </a:solidFill>
                <a:latin typeface="Inter"/>
                <a:ea typeface="Inter"/>
                <a:cs typeface="Inter"/>
                <a:sym typeface="Inter"/>
              </a:rPr>
              <a:t>MODELO Y APLICACIÓN</a:t>
            </a:r>
            <a:endParaRPr b="1" sz="2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1" name="Google Shape;761;g3e5283b25c0_0_1863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62" name="Google Shape;762;g3e5283b25c0_0_18632"/>
          <p:cNvGrpSpPr/>
          <p:nvPr/>
        </p:nvGrpSpPr>
        <p:grpSpPr>
          <a:xfrm>
            <a:off x="9239238" y="3429000"/>
            <a:ext cx="3952800" cy="4000500"/>
            <a:chOff x="2643188" y="3429000"/>
            <a:chExt cx="3952800" cy="4000500"/>
          </a:xfrm>
        </p:grpSpPr>
        <p:sp>
          <p:nvSpPr>
            <p:cNvPr id="763" name="Google Shape;763;g3e5283b25c0_0_18632"/>
            <p:cNvSpPr/>
            <p:nvPr/>
          </p:nvSpPr>
          <p:spPr>
            <a:xfrm>
              <a:off x="2643188" y="3429000"/>
              <a:ext cx="3952800" cy="4000500"/>
            </a:xfrm>
            <a:prstGeom prst="roundRect">
              <a:avLst>
                <a:gd fmla="val 3854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g3e5283b25c0_0_18632"/>
            <p:cNvSpPr/>
            <p:nvPr/>
          </p:nvSpPr>
          <p:spPr>
            <a:xfrm>
              <a:off x="2643188" y="3429000"/>
              <a:ext cx="3952800" cy="762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g3e5283b25c0_0_18632"/>
            <p:cNvSpPr txBox="1"/>
            <p:nvPr/>
          </p:nvSpPr>
          <p:spPr>
            <a:xfrm>
              <a:off x="2928938" y="3925062"/>
              <a:ext cx="952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b="0" i="0" sz="48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66" name="Google Shape;766;g3e5283b25c0_0_18632"/>
            <p:cNvSpPr txBox="1"/>
            <p:nvPr/>
          </p:nvSpPr>
          <p:spPr>
            <a:xfrm>
              <a:off x="2928938" y="4572000"/>
              <a:ext cx="33813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Aplicación</a:t>
              </a:r>
              <a:endParaRPr b="1" i="0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1125"/>
                </a:spcAft>
                <a:buNone/>
              </a:pPr>
              <a:r>
                <a:rPr lang="en-US" sz="1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Desarrolla un panel de gestión de transacciones fraudulentas para gestionar de forma fácil e intuitiva las incidencias.</a:t>
              </a:r>
              <a:endParaRPr b="1" i="0" sz="1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67" name="Google Shape;767;g3e5283b25c0_0_18632"/>
          <p:cNvSpPr/>
          <p:nvPr/>
        </p:nvSpPr>
        <p:spPr>
          <a:xfrm>
            <a:off x="1449750" y="8335525"/>
            <a:ext cx="152400" cy="1524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e5283b25c0_385_2074"/>
          <p:cNvSpPr txBox="1"/>
          <p:nvPr/>
        </p:nvSpPr>
        <p:spPr>
          <a:xfrm>
            <a:off x="742950" y="1308735"/>
            <a:ext cx="7784400" cy="9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8FAFC"/>
                </a:solidFill>
                <a:latin typeface="League Gothic"/>
                <a:ea typeface="League Gothic"/>
                <a:cs typeface="League Gothic"/>
                <a:sym typeface="League Gothic"/>
              </a:rPr>
              <a:t>DASHBOARD OPERATIVO EJECUTIVO</a:t>
            </a:r>
            <a:endParaRPr b="0" sz="6000">
              <a:solidFill>
                <a:srgbClr val="F8FAFC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773" name="Google Shape;773;g3e5283b25c0_385_20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3240" y="2726375"/>
            <a:ext cx="13266625" cy="624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g3e5283b25c0_385_2074"/>
          <p:cNvSpPr txBox="1"/>
          <p:nvPr/>
        </p:nvSpPr>
        <p:spPr>
          <a:xfrm>
            <a:off x="2571750" y="304800"/>
            <a:ext cx="6667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Detecta, Predice</a:t>
            </a:r>
            <a:r>
              <a:rPr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Protege</a:t>
            </a:r>
            <a:endParaRPr b="0" sz="1600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5" name="Google Shape;775;g3e5283b25c0_385_2074"/>
          <p:cNvSpPr/>
          <p:nvPr/>
        </p:nvSpPr>
        <p:spPr>
          <a:xfrm>
            <a:off x="0" y="0"/>
            <a:ext cx="140400" cy="10287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g3e5283b25c0_385_2074"/>
          <p:cNvSpPr txBox="1"/>
          <p:nvPr/>
        </p:nvSpPr>
        <p:spPr>
          <a:xfrm>
            <a:off x="573950" y="381000"/>
            <a:ext cx="2655900" cy="51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NovaPay</a:t>
            </a:r>
            <a:endParaRPr b="1" sz="2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7" name="Google Shape;777;g3e5283b25c0_385_207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8" name="Google Shape;778;g3e5283b25c0_385_2074"/>
          <p:cNvSpPr/>
          <p:nvPr/>
        </p:nvSpPr>
        <p:spPr>
          <a:xfrm>
            <a:off x="14354175" y="457200"/>
            <a:ext cx="3352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  <a:endParaRPr b="0"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g3e5283b25c0_0_139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g3e5283b25c0_0_13998"/>
          <p:cNvSpPr/>
          <p:nvPr/>
        </p:nvSpPr>
        <p:spPr>
          <a:xfrm>
            <a:off x="0" y="0"/>
            <a:ext cx="140400" cy="10287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g3e5283b25c0_0_13998"/>
          <p:cNvSpPr txBox="1"/>
          <p:nvPr/>
        </p:nvSpPr>
        <p:spPr>
          <a:xfrm>
            <a:off x="573950" y="381000"/>
            <a:ext cx="2655900" cy="51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NovaPay</a:t>
            </a:r>
            <a:endParaRPr b="1" sz="2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6" name="Google Shape;786;g3e5283b25c0_0_13998"/>
          <p:cNvSpPr txBox="1"/>
          <p:nvPr/>
        </p:nvSpPr>
        <p:spPr>
          <a:xfrm>
            <a:off x="762000" y="1143000"/>
            <a:ext cx="11430000" cy="79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61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RONDA 1: DIAGNÓSTICO ESTRUCTURAL Y GESTIÓN DE RIESGOS</a:t>
            </a:r>
            <a:endParaRPr b="0" i="0" sz="5161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787" name="Google Shape;787;g3e5283b25c0_0_13998"/>
          <p:cNvSpPr txBox="1"/>
          <p:nvPr/>
        </p:nvSpPr>
        <p:spPr>
          <a:xfrm>
            <a:off x="762000" y="2190750"/>
            <a:ext cx="11430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Objetivo: Someter el modelo de Inteligencia Artificial a simulaciones de amenazas reales bajo una metodología de mejora continua (Red Team vs. Blue Team).</a:t>
            </a:r>
            <a:endParaRPr b="0" i="0" sz="1455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88" name="Google Shape;788;g3e5283b25c0_0_13998"/>
          <p:cNvGrpSpPr/>
          <p:nvPr/>
        </p:nvGrpSpPr>
        <p:grpSpPr>
          <a:xfrm>
            <a:off x="762000" y="7620000"/>
            <a:ext cx="16764000" cy="1333500"/>
            <a:chOff x="762000" y="7620000"/>
            <a:chExt cx="16764000" cy="1333500"/>
          </a:xfrm>
        </p:grpSpPr>
        <p:sp>
          <p:nvSpPr>
            <p:cNvPr id="789" name="Google Shape;789;g3e5283b25c0_0_13998"/>
            <p:cNvSpPr/>
            <p:nvPr/>
          </p:nvSpPr>
          <p:spPr>
            <a:xfrm>
              <a:off x="762000" y="7620000"/>
              <a:ext cx="16764000" cy="1333500"/>
            </a:xfrm>
            <a:prstGeom prst="roundRect">
              <a:avLst>
                <a:gd fmla="val 8571" name="adj"/>
              </a:avLst>
            </a:prstGeom>
            <a:solidFill>
              <a:srgbClr val="7C3AED">
                <a:alpha val="10000"/>
              </a:srgbClr>
            </a:solidFill>
            <a:ln cap="flat" cmpd="sng" w="19050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g3e5283b25c0_0_13998"/>
            <p:cNvSpPr txBox="1"/>
            <p:nvPr/>
          </p:nvSpPr>
          <p:spPr>
            <a:xfrm>
              <a:off x="1047750" y="7620000"/>
              <a:ext cx="161925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381000" spcFirstLastPara="1" rIns="3810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Aportación de Valor:</a:t>
              </a:r>
              <a:r>
                <a:rPr b="0" i="0" lang="en-US" sz="2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Identificación temprana de puntos ciegos lógicos antes del despliegue masivo, garantizando la inversión y protegiendo la experiencia del cliente.</a:t>
              </a:r>
              <a:endParaRPr b="0" i="0" sz="22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91" name="Google Shape;791;g3e5283b25c0_0_13998"/>
          <p:cNvSpPr txBox="1"/>
          <p:nvPr/>
        </p:nvSpPr>
        <p:spPr>
          <a:xfrm>
            <a:off x="762000" y="9144000"/>
            <a:ext cx="1676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Evaluación de Vectores de Fraude Financiero:</a:t>
            </a:r>
            <a:r>
              <a:rPr b="0" i="0" lang="en-US"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Metodología avanzada de diagnóstico y mitigación de riesgos críticos para NovaPay.</a:t>
            </a:r>
            <a:endParaRPr b="1" i="0" sz="1300">
              <a:solidFill>
                <a:srgbClr val="7C3A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92" name="Google Shape;792;g3e5283b25c0_0_13998"/>
          <p:cNvGrpSpPr/>
          <p:nvPr/>
        </p:nvGrpSpPr>
        <p:grpSpPr>
          <a:xfrm>
            <a:off x="762000" y="3048000"/>
            <a:ext cx="5334000" cy="4000500"/>
            <a:chOff x="762000" y="3048000"/>
            <a:chExt cx="5334000" cy="4000500"/>
          </a:xfrm>
        </p:grpSpPr>
        <p:sp>
          <p:nvSpPr>
            <p:cNvPr id="793" name="Google Shape;793;g3e5283b25c0_0_13998"/>
            <p:cNvSpPr/>
            <p:nvPr/>
          </p:nvSpPr>
          <p:spPr>
            <a:xfrm>
              <a:off x="762000" y="3048000"/>
              <a:ext cx="5334000" cy="4000500"/>
            </a:xfrm>
            <a:prstGeom prst="roundRect">
              <a:avLst>
                <a:gd fmla="val 3809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g3e5283b25c0_0_13998"/>
            <p:cNvSpPr txBox="1"/>
            <p:nvPr/>
          </p:nvSpPr>
          <p:spPr>
            <a:xfrm>
              <a:off x="1047750" y="3408807"/>
              <a:ext cx="76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shield</a:t>
              </a:r>
              <a:endParaRPr b="0" sz="48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95" name="Google Shape;795;g3e5283b25c0_0_13998"/>
            <p:cNvSpPr txBox="1"/>
            <p:nvPr/>
          </p:nvSpPr>
          <p:spPr>
            <a:xfrm>
              <a:off x="1047750" y="4191000"/>
              <a:ext cx="4762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Account Takeover (ATO)</a:t>
              </a:r>
              <a:endParaRPr b="1" i="0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i="0" lang="en-US" sz="17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Suplantación de identidad donde el atacante opera con credenciales legítimas replicando patrones de consumo habituales.</a:t>
              </a:r>
              <a:endParaRPr b="0" i="0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96" name="Google Shape;796;g3e5283b25c0_0_13998"/>
          <p:cNvGrpSpPr/>
          <p:nvPr/>
        </p:nvGrpSpPr>
        <p:grpSpPr>
          <a:xfrm>
            <a:off x="6477000" y="3048000"/>
            <a:ext cx="5334000" cy="4000500"/>
            <a:chOff x="6477000" y="3048000"/>
            <a:chExt cx="5334000" cy="4000500"/>
          </a:xfrm>
        </p:grpSpPr>
        <p:sp>
          <p:nvSpPr>
            <p:cNvPr id="797" name="Google Shape;797;g3e5283b25c0_0_13998"/>
            <p:cNvSpPr/>
            <p:nvPr/>
          </p:nvSpPr>
          <p:spPr>
            <a:xfrm>
              <a:off x="6477000" y="3048000"/>
              <a:ext cx="5334000" cy="4000500"/>
            </a:xfrm>
            <a:prstGeom prst="roundRect">
              <a:avLst>
                <a:gd fmla="val 3809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g3e5283b25c0_0_13998"/>
            <p:cNvSpPr txBox="1"/>
            <p:nvPr/>
          </p:nvSpPr>
          <p:spPr>
            <a:xfrm>
              <a:off x="6762750" y="3408807"/>
              <a:ext cx="76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b="0" sz="48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99" name="Google Shape;799;g3e5283b25c0_0_13998"/>
            <p:cNvSpPr txBox="1"/>
            <p:nvPr/>
          </p:nvSpPr>
          <p:spPr>
            <a:xfrm>
              <a:off x="6762750" y="4191000"/>
              <a:ext cx="4762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Card Testing</a:t>
              </a:r>
              <a:endParaRPr b="1" i="0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i="0" lang="en-US" sz="17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Automatización de transacciones concurrentes de bajo importe para verificar masivamente la validez de tarjetas comprometidas.</a:t>
              </a:r>
              <a:endParaRPr b="0" i="0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00" name="Google Shape;800;g3e5283b25c0_0_13998"/>
          <p:cNvGrpSpPr/>
          <p:nvPr/>
        </p:nvGrpSpPr>
        <p:grpSpPr>
          <a:xfrm>
            <a:off x="12192000" y="3048000"/>
            <a:ext cx="5334000" cy="4000500"/>
            <a:chOff x="12192000" y="3048000"/>
            <a:chExt cx="5334000" cy="4000500"/>
          </a:xfrm>
        </p:grpSpPr>
        <p:sp>
          <p:nvSpPr>
            <p:cNvPr id="801" name="Google Shape;801;g3e5283b25c0_0_13998"/>
            <p:cNvSpPr/>
            <p:nvPr/>
          </p:nvSpPr>
          <p:spPr>
            <a:xfrm>
              <a:off x="12192000" y="3048000"/>
              <a:ext cx="5334000" cy="4000500"/>
            </a:xfrm>
            <a:prstGeom prst="roundRect">
              <a:avLst>
                <a:gd fmla="val 3809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g3e5283b25c0_0_13998"/>
            <p:cNvSpPr txBox="1"/>
            <p:nvPr/>
          </p:nvSpPr>
          <p:spPr>
            <a:xfrm>
              <a:off x="12477750" y="3408807"/>
              <a:ext cx="76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8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b="0" sz="48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03" name="Google Shape;803;g3e5283b25c0_0_13998"/>
            <p:cNvSpPr txBox="1"/>
            <p:nvPr/>
          </p:nvSpPr>
          <p:spPr>
            <a:xfrm>
              <a:off x="12477750" y="4191000"/>
              <a:ext cx="4762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Anomalías Categóricas</a:t>
              </a:r>
              <a:endParaRPr b="1" i="0" sz="2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i="0" lang="en-US" sz="18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Intentos de diluir compras fraudulentas de gran volumen dentro de categorías comerciales consideradas de "bajo riesgo".</a:t>
              </a:r>
              <a:endParaRPr b="0" i="0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04" name="Google Shape;804;g3e5283b25c0_0_13998"/>
          <p:cNvSpPr txBox="1"/>
          <p:nvPr/>
        </p:nvSpPr>
        <p:spPr>
          <a:xfrm>
            <a:off x="2571750" y="304800"/>
            <a:ext cx="6667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Detecta, Predice</a:t>
            </a:r>
            <a:r>
              <a:rPr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Protege</a:t>
            </a:r>
            <a:endParaRPr b="0" sz="1600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05" name="Google Shape;805;g3e5283b25c0_0_13998"/>
          <p:cNvGrpSpPr/>
          <p:nvPr/>
        </p:nvGrpSpPr>
        <p:grpSpPr>
          <a:xfrm>
            <a:off x="5524500" y="3273552"/>
            <a:ext cx="381000" cy="416052"/>
            <a:chOff x="5524500" y="3273552"/>
            <a:chExt cx="381000" cy="416052"/>
          </a:xfrm>
        </p:grpSpPr>
        <p:sp>
          <p:nvSpPr>
            <p:cNvPr id="806" name="Google Shape;806;g3e5283b25c0_0_13998"/>
            <p:cNvSpPr/>
            <p:nvPr/>
          </p:nvSpPr>
          <p:spPr>
            <a:xfrm>
              <a:off x="5524500" y="32735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g3e5283b25c0_0_13998"/>
            <p:cNvSpPr txBox="1"/>
            <p:nvPr/>
          </p:nvSpPr>
          <p:spPr>
            <a:xfrm>
              <a:off x="5524500" y="330860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b="0" sz="24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808" name="Google Shape;808;g3e5283b25c0_0_13998"/>
          <p:cNvGrpSpPr/>
          <p:nvPr/>
        </p:nvGrpSpPr>
        <p:grpSpPr>
          <a:xfrm>
            <a:off x="11239500" y="3273552"/>
            <a:ext cx="381000" cy="416052"/>
            <a:chOff x="11239500" y="3273552"/>
            <a:chExt cx="381000" cy="416052"/>
          </a:xfrm>
        </p:grpSpPr>
        <p:sp>
          <p:nvSpPr>
            <p:cNvPr id="809" name="Google Shape;809;g3e5283b25c0_0_13998"/>
            <p:cNvSpPr/>
            <p:nvPr/>
          </p:nvSpPr>
          <p:spPr>
            <a:xfrm>
              <a:off x="11239500" y="32735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g3e5283b25c0_0_13998"/>
            <p:cNvSpPr txBox="1"/>
            <p:nvPr/>
          </p:nvSpPr>
          <p:spPr>
            <a:xfrm>
              <a:off x="11239500" y="330860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b="0" sz="24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811" name="Google Shape;811;g3e5283b25c0_0_13998"/>
          <p:cNvGrpSpPr/>
          <p:nvPr/>
        </p:nvGrpSpPr>
        <p:grpSpPr>
          <a:xfrm>
            <a:off x="16954500" y="3273552"/>
            <a:ext cx="381000" cy="416052"/>
            <a:chOff x="16954500" y="3273552"/>
            <a:chExt cx="381000" cy="416052"/>
          </a:xfrm>
        </p:grpSpPr>
        <p:sp>
          <p:nvSpPr>
            <p:cNvPr id="812" name="Google Shape;812;g3e5283b25c0_0_13998"/>
            <p:cNvSpPr/>
            <p:nvPr/>
          </p:nvSpPr>
          <p:spPr>
            <a:xfrm>
              <a:off x="16954500" y="32735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g3e5283b25c0_0_13998"/>
            <p:cNvSpPr txBox="1"/>
            <p:nvPr/>
          </p:nvSpPr>
          <p:spPr>
            <a:xfrm>
              <a:off x="16954500" y="330860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b="0" sz="24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814" name="Google Shape;814;g3e5283b25c0_0_1399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5" name="Google Shape;815;g3e5283b25c0_0_13998"/>
          <p:cNvSpPr/>
          <p:nvPr/>
        </p:nvSpPr>
        <p:spPr>
          <a:xfrm>
            <a:off x="14354175" y="457200"/>
            <a:ext cx="3352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Ciberseguridad</a:t>
            </a:r>
            <a:endParaRPr b="0"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g3e5283b25c0_0_100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g3e5283b25c0_0_10090"/>
          <p:cNvSpPr/>
          <p:nvPr/>
        </p:nvSpPr>
        <p:spPr>
          <a:xfrm>
            <a:off x="0" y="0"/>
            <a:ext cx="140400" cy="10287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g3e5283b25c0_0_10090"/>
          <p:cNvSpPr txBox="1"/>
          <p:nvPr/>
        </p:nvSpPr>
        <p:spPr>
          <a:xfrm>
            <a:off x="573950" y="381000"/>
            <a:ext cx="2655900" cy="51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NovaPay</a:t>
            </a:r>
            <a:endParaRPr b="1" sz="2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3" name="Google Shape;823;g3e5283b25c0_0_10090"/>
          <p:cNvSpPr txBox="1"/>
          <p:nvPr/>
        </p:nvSpPr>
        <p:spPr>
          <a:xfrm>
            <a:off x="762000" y="1143000"/>
            <a:ext cx="11430000" cy="85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8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RONDA 2: EFICACIA DEFENSIVA Y RESULTADOS DE NEGOCIO</a:t>
            </a:r>
            <a:endParaRPr sz="558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824" name="Google Shape;824;g3e5283b25c0_0_10090"/>
          <p:cNvSpPr txBox="1"/>
          <p:nvPr/>
        </p:nvSpPr>
        <p:spPr>
          <a:xfrm>
            <a:off x="762000" y="2190750"/>
            <a:ext cx="11430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3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Transición exitosa hacia un modelo predictivo altamente resiliente y preparado para mitigar pérdidas operacionales.</a:t>
            </a:r>
            <a:endParaRPr sz="1573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25" name="Google Shape;825;g3e5283b25c0_0_10090"/>
          <p:cNvGrpSpPr/>
          <p:nvPr/>
        </p:nvGrpSpPr>
        <p:grpSpPr>
          <a:xfrm>
            <a:off x="762000" y="7620000"/>
            <a:ext cx="16764000" cy="1333500"/>
            <a:chOff x="762000" y="7620000"/>
            <a:chExt cx="16764000" cy="1333500"/>
          </a:xfrm>
        </p:grpSpPr>
        <p:sp>
          <p:nvSpPr>
            <p:cNvPr id="826" name="Google Shape;826;g3e5283b25c0_0_10090"/>
            <p:cNvSpPr/>
            <p:nvPr/>
          </p:nvSpPr>
          <p:spPr>
            <a:xfrm>
              <a:off x="762000" y="7620000"/>
              <a:ext cx="16764000" cy="1333500"/>
            </a:xfrm>
            <a:prstGeom prst="roundRect">
              <a:avLst>
                <a:gd fmla="val 8571" name="adj"/>
              </a:avLst>
            </a:prstGeom>
            <a:solidFill>
              <a:srgbClr val="7C3AED">
                <a:alpha val="10000"/>
              </a:srgbClr>
            </a:solidFill>
            <a:ln cap="flat" cmpd="sng" w="19050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g3e5283b25c0_0_10090"/>
            <p:cNvSpPr txBox="1"/>
            <p:nvPr/>
          </p:nvSpPr>
          <p:spPr>
            <a:xfrm>
              <a:off x="1047750" y="7620000"/>
              <a:ext cx="16192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81000" spcFirstLastPara="1" rIns="3810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Hito Alcanzado: Transición exitosa hacia un modelo predictivo altamente resiliente.</a:t>
              </a:r>
              <a:endParaRPr i="1" sz="2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28" name="Google Shape;828;g3e5283b25c0_0_10090"/>
          <p:cNvSpPr txBox="1"/>
          <p:nvPr/>
        </p:nvSpPr>
        <p:spPr>
          <a:xfrm>
            <a:off x="762000" y="9144000"/>
            <a:ext cx="1676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Eficacia Defensiva NovaPay:</a:t>
            </a:r>
            <a:r>
              <a:rPr b="0" lang="en-US"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Consolidación de un ecosistema resiliente capaz de neutralizar ataques financieros avanzados mediante el reentrenamiento continuo.</a:t>
            </a:r>
            <a:endParaRPr b="1" sz="1300">
              <a:solidFill>
                <a:srgbClr val="7C3A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29" name="Google Shape;829;g3e5283b25c0_0_10090"/>
          <p:cNvGrpSpPr/>
          <p:nvPr/>
        </p:nvGrpSpPr>
        <p:grpSpPr>
          <a:xfrm>
            <a:off x="762000" y="3048000"/>
            <a:ext cx="5334000" cy="4000500"/>
            <a:chOff x="762000" y="3048000"/>
            <a:chExt cx="5334000" cy="4000500"/>
          </a:xfrm>
        </p:grpSpPr>
        <p:sp>
          <p:nvSpPr>
            <p:cNvPr id="830" name="Google Shape;830;g3e5283b25c0_0_10090"/>
            <p:cNvSpPr/>
            <p:nvPr/>
          </p:nvSpPr>
          <p:spPr>
            <a:xfrm>
              <a:off x="762000" y="3048000"/>
              <a:ext cx="5334000" cy="4000500"/>
            </a:xfrm>
            <a:prstGeom prst="roundRect">
              <a:avLst>
                <a:gd fmla="val 3809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g3e5283b25c0_0_10090"/>
            <p:cNvSpPr txBox="1"/>
            <p:nvPr/>
          </p:nvSpPr>
          <p:spPr>
            <a:xfrm>
              <a:off x="1047750" y="3474437"/>
              <a:ext cx="952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592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shield</a:t>
              </a:r>
              <a:endParaRPr b="0" sz="592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32" name="Google Shape;832;g3e5283b25c0_0_10090"/>
            <p:cNvSpPr txBox="1"/>
            <p:nvPr/>
          </p:nvSpPr>
          <p:spPr>
            <a:xfrm>
              <a:off x="1047750" y="4191000"/>
              <a:ext cx="4762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Blindaje ante Fraude</a:t>
              </a:r>
              <a:endParaRPr b="1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lang="en-US" sz="2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Efectividad &gt;80% en la detección e intercepción de ataques financieros adaptativos tras el reentrenamiento.</a:t>
              </a:r>
              <a:endParaRPr b="0" sz="2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33" name="Google Shape;833;g3e5283b25c0_0_10090"/>
            <p:cNvSpPr txBox="1"/>
            <p:nvPr/>
          </p:nvSpPr>
          <p:spPr>
            <a:xfrm>
              <a:off x="5524500" y="32735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b="0" sz="24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834" name="Google Shape;834;g3e5283b25c0_0_10090"/>
          <p:cNvGrpSpPr/>
          <p:nvPr/>
        </p:nvGrpSpPr>
        <p:grpSpPr>
          <a:xfrm>
            <a:off x="6477000" y="3048000"/>
            <a:ext cx="5334000" cy="4000500"/>
            <a:chOff x="6477000" y="3048000"/>
            <a:chExt cx="5334000" cy="4000500"/>
          </a:xfrm>
        </p:grpSpPr>
        <p:sp>
          <p:nvSpPr>
            <p:cNvPr id="835" name="Google Shape;835;g3e5283b25c0_0_10090"/>
            <p:cNvSpPr/>
            <p:nvPr/>
          </p:nvSpPr>
          <p:spPr>
            <a:xfrm>
              <a:off x="6477000" y="3048000"/>
              <a:ext cx="5334000" cy="4000500"/>
            </a:xfrm>
            <a:prstGeom prst="roundRect">
              <a:avLst>
                <a:gd fmla="val 3809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g3e5283b25c0_0_10090"/>
            <p:cNvSpPr txBox="1"/>
            <p:nvPr/>
          </p:nvSpPr>
          <p:spPr>
            <a:xfrm>
              <a:off x="6762750" y="3474437"/>
              <a:ext cx="952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592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b="0" sz="592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37" name="Google Shape;837;g3e5283b25c0_0_10090"/>
            <p:cNvSpPr txBox="1"/>
            <p:nvPr/>
          </p:nvSpPr>
          <p:spPr>
            <a:xfrm>
              <a:off x="6762750" y="4191000"/>
              <a:ext cx="4762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Fronteras Lógicas</a:t>
              </a:r>
              <a:endParaRPr b="1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lang="en-US" sz="2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Alta precisión (91%) en la identificación de patrones concurrentes de riesgo, como discrepancias geográficas.</a:t>
              </a:r>
              <a:endParaRPr b="0" sz="2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38" name="Google Shape;838;g3e5283b25c0_0_10090"/>
            <p:cNvSpPr txBox="1"/>
            <p:nvPr/>
          </p:nvSpPr>
          <p:spPr>
            <a:xfrm>
              <a:off x="11239500" y="32735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b="0" sz="24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839" name="Google Shape;839;g3e5283b25c0_0_10090"/>
          <p:cNvGrpSpPr/>
          <p:nvPr/>
        </p:nvGrpSpPr>
        <p:grpSpPr>
          <a:xfrm>
            <a:off x="12192000" y="3048000"/>
            <a:ext cx="5334000" cy="4000500"/>
            <a:chOff x="12192000" y="3048000"/>
            <a:chExt cx="5334000" cy="4000500"/>
          </a:xfrm>
        </p:grpSpPr>
        <p:sp>
          <p:nvSpPr>
            <p:cNvPr id="840" name="Google Shape;840;g3e5283b25c0_0_10090"/>
            <p:cNvSpPr/>
            <p:nvPr/>
          </p:nvSpPr>
          <p:spPr>
            <a:xfrm>
              <a:off x="12192000" y="3048000"/>
              <a:ext cx="5334000" cy="4000500"/>
            </a:xfrm>
            <a:prstGeom prst="roundRect">
              <a:avLst>
                <a:gd fmla="val 3809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g3e5283b25c0_0_10090"/>
            <p:cNvSpPr txBox="1"/>
            <p:nvPr/>
          </p:nvSpPr>
          <p:spPr>
            <a:xfrm>
              <a:off x="12477750" y="3474437"/>
              <a:ext cx="952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592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b="0" sz="592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42" name="Google Shape;842;g3e5283b25c0_0_10090"/>
            <p:cNvSpPr txBox="1"/>
            <p:nvPr/>
          </p:nvSpPr>
          <p:spPr>
            <a:xfrm>
              <a:off x="12477750" y="4191000"/>
              <a:ext cx="4762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Defensa en Capas</a:t>
              </a:r>
              <a:endParaRPr b="1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lang="en-US" sz="19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Bloqueo preventivo de cuentas inhabilitadas antes de la inferencia, asegurando el backend de NovaPay.</a:t>
              </a:r>
              <a:endParaRPr b="0" sz="19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43" name="Google Shape;843;g3e5283b25c0_0_10090"/>
            <p:cNvSpPr txBox="1"/>
            <p:nvPr/>
          </p:nvSpPr>
          <p:spPr>
            <a:xfrm>
              <a:off x="16954500" y="32735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b="0" sz="24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844" name="Google Shape;844;g3e5283b25c0_0_10090"/>
          <p:cNvSpPr txBox="1"/>
          <p:nvPr/>
        </p:nvSpPr>
        <p:spPr>
          <a:xfrm>
            <a:off x="2571750" y="304800"/>
            <a:ext cx="6667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Detecta, Predice</a:t>
            </a:r>
            <a:r>
              <a:rPr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Protege</a:t>
            </a:r>
            <a:endParaRPr b="0" sz="1600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Google Shape;845;g3e5283b25c0_0_1009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6" name="Google Shape;846;g3e5283b25c0_0_10090"/>
          <p:cNvSpPr/>
          <p:nvPr/>
        </p:nvSpPr>
        <p:spPr>
          <a:xfrm>
            <a:off x="14354175" y="457200"/>
            <a:ext cx="3352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Ciberseguridad</a:t>
            </a:r>
            <a:endParaRPr b="0"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e5283b25c0_0_19461"/>
          <p:cNvSpPr txBox="1"/>
          <p:nvPr/>
        </p:nvSpPr>
        <p:spPr>
          <a:xfrm>
            <a:off x="573950" y="381000"/>
            <a:ext cx="2655900" cy="51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NovaPay</a:t>
            </a:r>
            <a:endParaRPr b="1" sz="2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2" name="Google Shape;852;g3e5283b25c0_0_19461"/>
          <p:cNvSpPr/>
          <p:nvPr/>
        </p:nvSpPr>
        <p:spPr>
          <a:xfrm>
            <a:off x="0" y="0"/>
            <a:ext cx="140400" cy="10287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g3e5283b25c0_0_19461"/>
          <p:cNvSpPr txBox="1"/>
          <p:nvPr/>
        </p:nvSpPr>
        <p:spPr>
          <a:xfrm>
            <a:off x="2571750" y="304800"/>
            <a:ext cx="6667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Detecta, Predice y Protege</a:t>
            </a:r>
            <a:endParaRPr b="0" sz="1600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4" name="Google Shape;854;g3e5283b25c0_0_19461"/>
          <p:cNvSpPr txBox="1"/>
          <p:nvPr/>
        </p:nvSpPr>
        <p:spPr>
          <a:xfrm>
            <a:off x="762000" y="1333500"/>
            <a:ext cx="10477500" cy="95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PANEL DE CONTROL NOVAPAY</a:t>
            </a:r>
            <a:endParaRPr b="0" sz="620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855" name="Google Shape;855;g3e5283b25c0_0_1946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6" name="Google Shape;856;g3e5283b25c0_0_19461"/>
          <p:cNvSpPr txBox="1"/>
          <p:nvPr/>
        </p:nvSpPr>
        <p:spPr>
          <a:xfrm>
            <a:off x="762000" y="2286000"/>
            <a:ext cx="11430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Trabajo rápido y seguro</a:t>
            </a:r>
            <a:endParaRPr b="0" sz="16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7" name="Google Shape;857;g3e5283b25c0_0_19461"/>
          <p:cNvSpPr/>
          <p:nvPr/>
        </p:nvSpPr>
        <p:spPr>
          <a:xfrm>
            <a:off x="14354175" y="457200"/>
            <a:ext cx="3352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Futuras Implementaciones</a:t>
            </a:r>
            <a:endParaRPr b="0"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8" name="Google Shape;858;g3e5283b25c0_0_19461" title="Captura desde 2026-05-28 18-17-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7674" y="2762400"/>
            <a:ext cx="13128699" cy="6567801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g3e5283b25c0_0_19461"/>
          <p:cNvSpPr txBox="1"/>
          <p:nvPr/>
        </p:nvSpPr>
        <p:spPr>
          <a:xfrm>
            <a:off x="1286168" y="8513700"/>
            <a:ext cx="12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ENLACE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a8bca059f7_0_791"/>
          <p:cNvSpPr txBox="1"/>
          <p:nvPr/>
        </p:nvSpPr>
        <p:spPr>
          <a:xfrm>
            <a:off x="573950" y="381000"/>
            <a:ext cx="2655900" cy="51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NovaPay</a:t>
            </a:r>
            <a:endParaRPr b="1" sz="2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g3a8bca059f7_0_791"/>
          <p:cNvSpPr/>
          <p:nvPr/>
        </p:nvSpPr>
        <p:spPr>
          <a:xfrm>
            <a:off x="0" y="0"/>
            <a:ext cx="140400" cy="10287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g3a8bca059f7_0_791"/>
          <p:cNvSpPr txBox="1"/>
          <p:nvPr/>
        </p:nvSpPr>
        <p:spPr>
          <a:xfrm>
            <a:off x="2571750" y="304800"/>
            <a:ext cx="6667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Detecta, Predice y Protege</a:t>
            </a:r>
            <a:endParaRPr b="0" sz="1600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67" name="Google Shape;867;g3a8bca059f7_0_791"/>
          <p:cNvGrpSpPr/>
          <p:nvPr/>
        </p:nvGrpSpPr>
        <p:grpSpPr>
          <a:xfrm>
            <a:off x="762000" y="3048000"/>
            <a:ext cx="16668675" cy="3810000"/>
            <a:chOff x="762000" y="3048000"/>
            <a:chExt cx="16668675" cy="3810000"/>
          </a:xfrm>
        </p:grpSpPr>
        <p:grpSp>
          <p:nvGrpSpPr>
            <p:cNvPr id="868" name="Google Shape;868;g3a8bca059f7_0_791"/>
            <p:cNvGrpSpPr/>
            <p:nvPr/>
          </p:nvGrpSpPr>
          <p:grpSpPr>
            <a:xfrm>
              <a:off x="762000" y="3048000"/>
              <a:ext cx="3952800" cy="3810000"/>
              <a:chOff x="762000" y="3048000"/>
              <a:chExt cx="3952800" cy="3810000"/>
            </a:xfrm>
          </p:grpSpPr>
          <p:sp>
            <p:nvSpPr>
              <p:cNvPr id="869" name="Google Shape;869;g3a8bca059f7_0_791"/>
              <p:cNvSpPr/>
              <p:nvPr/>
            </p:nvSpPr>
            <p:spPr>
              <a:xfrm>
                <a:off x="762000" y="3048000"/>
                <a:ext cx="3952800" cy="3810000"/>
              </a:xfrm>
              <a:prstGeom prst="roundRect">
                <a:avLst>
                  <a:gd fmla="val 4000" name="adj"/>
                </a:avLst>
              </a:prstGeom>
              <a:solidFill>
                <a:srgbClr val="1E293B"/>
              </a:solidFill>
              <a:ln cap="flat" cmpd="sng" w="1905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g3a8bca059f7_0_791"/>
              <p:cNvSpPr txBox="1"/>
              <p:nvPr/>
            </p:nvSpPr>
            <p:spPr>
              <a:xfrm>
                <a:off x="1047750" y="3478911"/>
                <a:ext cx="7620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4800">
                    <a:solidFill>
                      <a:srgbClr val="A855F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analytics</a:t>
                </a:r>
                <a:endParaRPr b="0" sz="48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871" name="Google Shape;871;g3a8bca059f7_0_791"/>
              <p:cNvSpPr txBox="1"/>
              <p:nvPr/>
            </p:nvSpPr>
            <p:spPr>
              <a:xfrm>
                <a:off x="1047750" y="4191000"/>
                <a:ext cx="3381300" cy="2286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Tabla del Analista Independiente</a:t>
                </a:r>
                <a:endParaRPr b="1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Estructura dedicada fuera de la tabla de transacciones para optimizar el seguimiento al cliente y el control de fraude avanzado.</a:t>
                </a:r>
                <a:endParaRPr b="0" sz="16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72" name="Google Shape;872;g3a8bca059f7_0_791"/>
            <p:cNvGrpSpPr/>
            <p:nvPr/>
          </p:nvGrpSpPr>
          <p:grpSpPr>
            <a:xfrm>
              <a:off x="5000625" y="3048000"/>
              <a:ext cx="3952800" cy="3810000"/>
              <a:chOff x="5000625" y="3048000"/>
              <a:chExt cx="3952800" cy="3810000"/>
            </a:xfrm>
          </p:grpSpPr>
          <p:sp>
            <p:nvSpPr>
              <p:cNvPr id="873" name="Google Shape;873;g3a8bca059f7_0_791"/>
              <p:cNvSpPr/>
              <p:nvPr/>
            </p:nvSpPr>
            <p:spPr>
              <a:xfrm>
                <a:off x="5000625" y="3048000"/>
                <a:ext cx="3952800" cy="3810000"/>
              </a:xfrm>
              <a:prstGeom prst="roundRect">
                <a:avLst>
                  <a:gd fmla="val 4000" name="adj"/>
                </a:avLst>
              </a:prstGeom>
              <a:solidFill>
                <a:srgbClr val="1E293B"/>
              </a:solidFill>
              <a:ln cap="flat" cmpd="sng" w="1905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g3a8bca059f7_0_791"/>
              <p:cNvSpPr txBox="1"/>
              <p:nvPr/>
            </p:nvSpPr>
            <p:spPr>
              <a:xfrm>
                <a:off x="5286375" y="3478911"/>
                <a:ext cx="7620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4800">
                    <a:solidFill>
                      <a:srgbClr val="A855F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</a:t>
                </a:r>
                <a:endParaRPr b="0" sz="48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875" name="Google Shape;875;g3a8bca059f7_0_791"/>
              <p:cNvSpPr txBox="1"/>
              <p:nvPr/>
            </p:nvSpPr>
            <p:spPr>
              <a:xfrm>
                <a:off x="5286375" y="4191000"/>
                <a:ext cx="3381300" cy="2286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Filtro de Especialización</a:t>
                </a:r>
                <a:endParaRPr b="1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Distribución inteligente de transacciones basada en el monto o la experiencia específica del analista encargado.</a:t>
                </a:r>
                <a:endParaRPr b="0" sz="16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76" name="Google Shape;876;g3a8bca059f7_0_791"/>
            <p:cNvGrpSpPr/>
            <p:nvPr/>
          </p:nvGrpSpPr>
          <p:grpSpPr>
            <a:xfrm>
              <a:off x="9239250" y="3048000"/>
              <a:ext cx="3952800" cy="3810000"/>
              <a:chOff x="9239250" y="3048000"/>
              <a:chExt cx="3952800" cy="3810000"/>
            </a:xfrm>
          </p:grpSpPr>
          <p:sp>
            <p:nvSpPr>
              <p:cNvPr id="877" name="Google Shape;877;g3a8bca059f7_0_791"/>
              <p:cNvSpPr/>
              <p:nvPr/>
            </p:nvSpPr>
            <p:spPr>
              <a:xfrm>
                <a:off x="9239250" y="3048000"/>
                <a:ext cx="3952800" cy="3810000"/>
              </a:xfrm>
              <a:prstGeom prst="roundRect">
                <a:avLst>
                  <a:gd fmla="val 4000" name="adj"/>
                </a:avLst>
              </a:prstGeom>
              <a:solidFill>
                <a:srgbClr val="1E293B"/>
              </a:solidFill>
              <a:ln cap="flat" cmpd="sng" w="1905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g3a8bca059f7_0_791"/>
              <p:cNvSpPr txBox="1"/>
              <p:nvPr/>
            </p:nvSpPr>
            <p:spPr>
              <a:xfrm>
                <a:off x="9525000" y="3478911"/>
                <a:ext cx="7620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4800">
                    <a:solidFill>
                      <a:srgbClr val="A855F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autorenew</a:t>
                </a:r>
                <a:endParaRPr b="0" sz="48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879" name="Google Shape;879;g3a8bca059f7_0_791"/>
              <p:cNvSpPr txBox="1"/>
              <p:nvPr/>
            </p:nvSpPr>
            <p:spPr>
              <a:xfrm>
                <a:off x="9525000" y="4191000"/>
                <a:ext cx="3381300" cy="2286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Re-entreno Automático</a:t>
                </a:r>
                <a:endParaRPr b="1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Ciclos automáticos de actualización del modelo para mantener la máxima precisión frente a nuevas amenazas.</a:t>
                </a:r>
                <a:endParaRPr b="0" sz="16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80" name="Google Shape;880;g3a8bca059f7_0_791"/>
            <p:cNvGrpSpPr/>
            <p:nvPr/>
          </p:nvGrpSpPr>
          <p:grpSpPr>
            <a:xfrm>
              <a:off x="13477875" y="3048000"/>
              <a:ext cx="3952800" cy="3810000"/>
              <a:chOff x="13477875" y="3048000"/>
              <a:chExt cx="3952800" cy="3810000"/>
            </a:xfrm>
          </p:grpSpPr>
          <p:sp>
            <p:nvSpPr>
              <p:cNvPr id="881" name="Google Shape;881;g3a8bca059f7_0_791"/>
              <p:cNvSpPr/>
              <p:nvPr/>
            </p:nvSpPr>
            <p:spPr>
              <a:xfrm>
                <a:off x="13477875" y="3048000"/>
                <a:ext cx="3952800" cy="3810000"/>
              </a:xfrm>
              <a:prstGeom prst="roundRect">
                <a:avLst>
                  <a:gd fmla="val 4000" name="adj"/>
                </a:avLst>
              </a:prstGeom>
              <a:solidFill>
                <a:srgbClr val="1E293B"/>
              </a:solidFill>
              <a:ln cap="flat" cmpd="sng" w="1905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g3a8bca059f7_0_791"/>
              <p:cNvSpPr txBox="1"/>
              <p:nvPr/>
            </p:nvSpPr>
            <p:spPr>
              <a:xfrm>
                <a:off x="13763625" y="3478911"/>
                <a:ext cx="7620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4800">
                    <a:solidFill>
                      <a:srgbClr val="A855F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forum</a:t>
                </a:r>
                <a:endParaRPr b="0" sz="48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883" name="Google Shape;883;g3a8bca059f7_0_791"/>
              <p:cNvSpPr txBox="1"/>
              <p:nvPr/>
            </p:nvSpPr>
            <p:spPr>
              <a:xfrm>
                <a:off x="13763625" y="4191000"/>
                <a:ext cx="3381300" cy="2286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Comunicación NovaPay - Cliente</a:t>
                </a:r>
                <a:endParaRPr b="1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Chat automatizado integrado en la APP bancaria para una interacción inmediata en la verificación de casos.</a:t>
                </a:r>
                <a:endParaRPr b="0" sz="16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884" name="Google Shape;884;g3a8bca059f7_0_791"/>
          <p:cNvSpPr txBox="1"/>
          <p:nvPr/>
        </p:nvSpPr>
        <p:spPr>
          <a:xfrm>
            <a:off x="762000" y="1333500"/>
            <a:ext cx="10477500" cy="95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2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FUTURAS IMPLEMENTACIONES</a:t>
            </a:r>
            <a:endParaRPr b="0" sz="620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885" name="Google Shape;885;g3a8bca059f7_0_79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6" name="Google Shape;886;g3a8bca059f7_0_791"/>
          <p:cNvSpPr txBox="1"/>
          <p:nvPr/>
        </p:nvSpPr>
        <p:spPr>
          <a:xfrm>
            <a:off x="762000" y="2286000"/>
            <a:ext cx="11430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Hoja de ruta estratégica para el fortalecimiento del ecosistema de seguridad y eficiencia operativa de NovaPay.</a:t>
            </a:r>
            <a:endParaRPr b="0" sz="16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Google Shape;887;g3a8bca059f7_0_791"/>
          <p:cNvSpPr/>
          <p:nvPr/>
        </p:nvSpPr>
        <p:spPr>
          <a:xfrm>
            <a:off x="14354175" y="457200"/>
            <a:ext cx="3352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Futuras Implementaciones</a:t>
            </a:r>
            <a:endParaRPr b="0"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88" name="Google Shape;888;g3a8bca059f7_0_791"/>
          <p:cNvGrpSpPr/>
          <p:nvPr/>
        </p:nvGrpSpPr>
        <p:grpSpPr>
          <a:xfrm>
            <a:off x="762000" y="7429500"/>
            <a:ext cx="16764000" cy="1333500"/>
            <a:chOff x="762000" y="7429500"/>
            <a:chExt cx="16764000" cy="1333500"/>
          </a:xfrm>
        </p:grpSpPr>
        <p:sp>
          <p:nvSpPr>
            <p:cNvPr id="889" name="Google Shape;889;g3a8bca059f7_0_791"/>
            <p:cNvSpPr/>
            <p:nvPr/>
          </p:nvSpPr>
          <p:spPr>
            <a:xfrm>
              <a:off x="762000" y="7429500"/>
              <a:ext cx="16764000" cy="1333500"/>
            </a:xfrm>
            <a:prstGeom prst="roundRect">
              <a:avLst>
                <a:gd fmla="val 11428" name="adj"/>
              </a:avLst>
            </a:prstGeom>
            <a:solidFill>
              <a:srgbClr val="7C3AED">
                <a:alpha val="10000"/>
              </a:srgbClr>
            </a:solidFill>
            <a:ln cap="flat" cmpd="sng" w="19050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g3a8bca059f7_0_791"/>
            <p:cNvSpPr txBox="1"/>
            <p:nvPr/>
          </p:nvSpPr>
          <p:spPr>
            <a:xfrm>
              <a:off x="1143000" y="7429500"/>
              <a:ext cx="16002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81000" spcFirstLastPara="1" rIns="38100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Inversión Total Estimada: </a:t>
              </a:r>
              <a:r>
                <a:rPr b="1" lang="en-US" sz="24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12.975€</a:t>
              </a:r>
              <a:r>
                <a:rPr b="1" lang="en-US" sz="2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para la implementación integral de nuevas funcionalidades.</a:t>
              </a:r>
              <a:endParaRPr b="1" sz="2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91" name="Google Shape;891;g3a8bca059f7_0_791"/>
          <p:cNvSpPr txBox="1"/>
          <p:nvPr/>
        </p:nvSpPr>
        <p:spPr>
          <a:xfrm>
            <a:off x="762000" y="9144000"/>
            <a:ext cx="1676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Próximos Pasos NovaPay:</a:t>
            </a:r>
            <a:r>
              <a:rPr b="0" lang="en-US" sz="13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Despliegue técnico y monitoreo de KPIs para asegurar la estabilidad del sistema post-implementación.</a:t>
            </a:r>
            <a:endParaRPr b="1" sz="1300">
              <a:solidFill>
                <a:srgbClr val="7C3AED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e5283b25c0_419_1"/>
          <p:cNvSpPr/>
          <p:nvPr/>
        </p:nvSpPr>
        <p:spPr>
          <a:xfrm>
            <a:off x="14001750" y="457200"/>
            <a:ext cx="3357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Arquitectura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8" name="Google Shape;898;g3e5283b25c0_419_1" title="Estructura backen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1975" y="998592"/>
            <a:ext cx="13704050" cy="913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g3e5283b25c0_419_1"/>
          <p:cNvSpPr txBox="1"/>
          <p:nvPr/>
        </p:nvSpPr>
        <p:spPr>
          <a:xfrm>
            <a:off x="2571750" y="304800"/>
            <a:ext cx="6667500" cy="66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Detecta, Predice</a:t>
            </a:r>
            <a:r>
              <a:rPr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Protege</a:t>
            </a:r>
            <a:endParaRPr b="0" sz="1600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0" name="Google Shape;900;g3e5283b25c0_419_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e4ef061aa1_0_101"/>
          <p:cNvSpPr txBox="1"/>
          <p:nvPr/>
        </p:nvSpPr>
        <p:spPr>
          <a:xfrm>
            <a:off x="742950" y="1308738"/>
            <a:ext cx="7784400" cy="9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5"/>
              <a:buFont typeface="Arial"/>
              <a:buNone/>
            </a:pPr>
            <a:r>
              <a:rPr b="0" i="0" lang="en-US" sz="6285" u="none" cap="none" strike="noStrike">
                <a:solidFill>
                  <a:schemeClr val="dk1"/>
                </a:solidFill>
                <a:latin typeface="League Gothic"/>
                <a:ea typeface="League Gothic"/>
                <a:cs typeface="League Gothic"/>
                <a:sym typeface="League Gothic"/>
              </a:rPr>
              <a:t>FULL STACK</a:t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e4ef061aa1_0_101"/>
          <p:cNvSpPr/>
          <p:nvPr/>
        </p:nvSpPr>
        <p:spPr>
          <a:xfrm>
            <a:off x="14001750" y="457200"/>
            <a:ext cx="3357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Full </a:t>
            </a: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Stack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8" name="Google Shape;908;g3e4ef061aa1_0_101" title="tecno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0025" y="1497050"/>
            <a:ext cx="14319526" cy="8058999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g3e4ef061aa1_0_101"/>
          <p:cNvSpPr txBox="1"/>
          <p:nvPr/>
        </p:nvSpPr>
        <p:spPr>
          <a:xfrm>
            <a:off x="2571750" y="304800"/>
            <a:ext cx="6667500" cy="66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Detecta, Predice</a:t>
            </a:r>
            <a:r>
              <a:rPr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Protege</a:t>
            </a:r>
            <a:endParaRPr b="0" sz="1600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Google Shape;910;g3e4ef061aa1_0_10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a8bca059f7_0_163"/>
          <p:cNvSpPr/>
          <p:nvPr/>
        </p:nvSpPr>
        <p:spPr>
          <a:xfrm>
            <a:off x="14354175" y="457200"/>
            <a:ext cx="3357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b="0"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Google Shape;917;g3a8bca059f7_0_163"/>
          <p:cNvSpPr txBox="1"/>
          <p:nvPr/>
        </p:nvSpPr>
        <p:spPr>
          <a:xfrm>
            <a:off x="762000" y="1333500"/>
            <a:ext cx="10477500" cy="95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2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EDA - ANÁLISIS EXPLORATORIO DE DATOS</a:t>
            </a:r>
            <a:endParaRPr b="0" sz="620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918" name="Google Shape;918;g3a8bca059f7_0_163"/>
          <p:cNvSpPr txBox="1"/>
          <p:nvPr/>
        </p:nvSpPr>
        <p:spPr>
          <a:xfrm>
            <a:off x="762000" y="2286000"/>
            <a:ext cx="16764000" cy="11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 genera BD de </a:t>
            </a:r>
            <a:r>
              <a:rPr b="1"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Transacciones</a:t>
            </a:r>
            <a:r>
              <a:rPr b="0" lang="en-US" sz="2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 ayuda de un LLM, fijando condiciones para una estructura balanceada de fraudes (ej. 60% uso de VPN).</a:t>
            </a:r>
            <a:endParaRPr b="0" sz="2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BD de </a:t>
            </a:r>
            <a:r>
              <a:rPr b="1"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Clientes</a:t>
            </a:r>
            <a:r>
              <a:rPr b="0" lang="en-US" sz="2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 datos sintéticos en Python usando Faker y SDV (Synthetic Data Vault).</a:t>
            </a:r>
            <a:endParaRPr b="0" sz="2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19" name="Google Shape;919;g3a8bca059f7_0_163"/>
          <p:cNvGrpSpPr/>
          <p:nvPr/>
        </p:nvGrpSpPr>
        <p:grpSpPr>
          <a:xfrm>
            <a:off x="762000" y="4191000"/>
            <a:ext cx="3952800" cy="2667000"/>
            <a:chOff x="762000" y="4191000"/>
            <a:chExt cx="3952800" cy="2667000"/>
          </a:xfrm>
        </p:grpSpPr>
        <p:sp>
          <p:nvSpPr>
            <p:cNvPr id="920" name="Google Shape;920;g3a8bca059f7_0_163"/>
            <p:cNvSpPr/>
            <p:nvPr/>
          </p:nvSpPr>
          <p:spPr>
            <a:xfrm>
              <a:off x="762000" y="4191000"/>
              <a:ext cx="3952800" cy="26670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g3a8bca059f7_0_163"/>
            <p:cNvSpPr txBox="1"/>
            <p:nvPr/>
          </p:nvSpPr>
          <p:spPr>
            <a:xfrm>
              <a:off x="1047750" y="4476750"/>
              <a:ext cx="3381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100.000</a:t>
              </a:r>
              <a:endParaRPr b="1" sz="52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transacciones</a:t>
              </a:r>
              <a:endParaRPr b="1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Base sintética diseñada para simular pagos a escala real.</a:t>
              </a:r>
              <a:endParaRPr b="0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22" name="Google Shape;922;g3a8bca059f7_0_163"/>
          <p:cNvGrpSpPr/>
          <p:nvPr/>
        </p:nvGrpSpPr>
        <p:grpSpPr>
          <a:xfrm>
            <a:off x="5000625" y="4191000"/>
            <a:ext cx="3952800" cy="2667000"/>
            <a:chOff x="5000625" y="4191000"/>
            <a:chExt cx="3952800" cy="2667000"/>
          </a:xfrm>
        </p:grpSpPr>
        <p:sp>
          <p:nvSpPr>
            <p:cNvPr id="923" name="Google Shape;923;g3a8bca059f7_0_163"/>
            <p:cNvSpPr/>
            <p:nvPr/>
          </p:nvSpPr>
          <p:spPr>
            <a:xfrm>
              <a:off x="5000625" y="4191000"/>
              <a:ext cx="3952800" cy="26670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g3a8bca059f7_0_163"/>
            <p:cNvSpPr txBox="1"/>
            <p:nvPr/>
          </p:nvSpPr>
          <p:spPr>
            <a:xfrm>
              <a:off x="5286375" y="4476750"/>
              <a:ext cx="3381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16</a:t>
              </a:r>
              <a:endParaRPr b="1" sz="52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variables</a:t>
              </a:r>
              <a:endParaRPr b="1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Incluye datos transaccionales, temporales y de comportamiento del usuario.</a:t>
              </a:r>
              <a:endParaRPr b="0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25" name="Google Shape;925;g3a8bca059f7_0_163"/>
          <p:cNvGrpSpPr/>
          <p:nvPr/>
        </p:nvGrpSpPr>
        <p:grpSpPr>
          <a:xfrm>
            <a:off x="9239250" y="4191000"/>
            <a:ext cx="3952800" cy="2667000"/>
            <a:chOff x="9239250" y="4191000"/>
            <a:chExt cx="3952800" cy="2667000"/>
          </a:xfrm>
        </p:grpSpPr>
        <p:sp>
          <p:nvSpPr>
            <p:cNvPr id="926" name="Google Shape;926;g3a8bca059f7_0_163"/>
            <p:cNvSpPr/>
            <p:nvPr/>
          </p:nvSpPr>
          <p:spPr>
            <a:xfrm>
              <a:off x="9239250" y="4191000"/>
              <a:ext cx="3952800" cy="26670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g3a8bca059f7_0_163"/>
            <p:cNvSpPr txBox="1"/>
            <p:nvPr/>
          </p:nvSpPr>
          <p:spPr>
            <a:xfrm>
              <a:off x="9525000" y="4476750"/>
              <a:ext cx="3381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98/2</a:t>
              </a:r>
              <a:endParaRPr b="1" sz="52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distribución</a:t>
              </a:r>
              <a:endParaRPr b="1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Relación crítica entre transacciones legítimas (no fraude) vs. fraudulentas.</a:t>
              </a:r>
              <a:endParaRPr b="0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28" name="Google Shape;928;g3a8bca059f7_0_163"/>
          <p:cNvGrpSpPr/>
          <p:nvPr/>
        </p:nvGrpSpPr>
        <p:grpSpPr>
          <a:xfrm>
            <a:off x="13477875" y="4191000"/>
            <a:ext cx="3952800" cy="2667000"/>
            <a:chOff x="13477875" y="4191000"/>
            <a:chExt cx="3952800" cy="2667000"/>
          </a:xfrm>
        </p:grpSpPr>
        <p:sp>
          <p:nvSpPr>
            <p:cNvPr id="929" name="Google Shape;929;g3a8bca059f7_0_163"/>
            <p:cNvSpPr/>
            <p:nvPr/>
          </p:nvSpPr>
          <p:spPr>
            <a:xfrm>
              <a:off x="13477875" y="4191000"/>
              <a:ext cx="3952800" cy="26670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g3a8bca059f7_0_163"/>
            <p:cNvSpPr txBox="1"/>
            <p:nvPr/>
          </p:nvSpPr>
          <p:spPr>
            <a:xfrm>
              <a:off x="13763625" y="4476750"/>
              <a:ext cx="3381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80/20</a:t>
              </a:r>
              <a:endParaRPr b="1" sz="52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validación</a:t>
              </a:r>
              <a:endParaRPr b="1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División Train/Test rigurosa para evaluar el modelo ante datos no vistos.</a:t>
              </a:r>
              <a:endParaRPr b="0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31" name="Google Shape;931;g3a8bca059f7_0_163"/>
          <p:cNvGrpSpPr/>
          <p:nvPr/>
        </p:nvGrpSpPr>
        <p:grpSpPr>
          <a:xfrm>
            <a:off x="762000" y="7429500"/>
            <a:ext cx="16764000" cy="1714500"/>
            <a:chOff x="762000" y="7429500"/>
            <a:chExt cx="16764000" cy="1714500"/>
          </a:xfrm>
        </p:grpSpPr>
        <p:sp>
          <p:nvSpPr>
            <p:cNvPr id="932" name="Google Shape;932;g3a8bca059f7_0_163"/>
            <p:cNvSpPr/>
            <p:nvPr/>
          </p:nvSpPr>
          <p:spPr>
            <a:xfrm>
              <a:off x="762000" y="7429500"/>
              <a:ext cx="16764000" cy="1714500"/>
            </a:xfrm>
            <a:prstGeom prst="roundRect">
              <a:avLst>
                <a:gd fmla="val 8888" name="adj"/>
              </a:avLst>
            </a:prstGeom>
            <a:solidFill>
              <a:srgbClr val="1E1B4B"/>
            </a:solidFill>
            <a:ln cap="flat" cmpd="sng" w="19050">
              <a:solidFill>
                <a:srgbClr val="4338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g3a8bca059f7_0_163"/>
            <p:cNvSpPr txBox="1"/>
            <p:nvPr/>
          </p:nvSpPr>
          <p:spPr>
            <a:xfrm>
              <a:off x="1143000" y="7620000"/>
              <a:ext cx="16002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ACC1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r>
                <a:rPr b="1" lang="en-US" sz="2400">
                  <a:solidFill>
                    <a:srgbClr val="FACC15"/>
                  </a:solidFill>
                  <a:latin typeface="Inter"/>
                  <a:ea typeface="Inter"/>
                  <a:cs typeface="Inter"/>
                  <a:sym typeface="Inter"/>
                </a:rPr>
                <a:t>Objetivo del Análisis</a:t>
              </a:r>
              <a:endParaRPr b="1" sz="2400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Identificar patrones ocultos en el comportamiento de fraude para alimentar el motor de predicción de NovaPay con señales de alta fidelidad.</a:t>
              </a:r>
              <a:endParaRPr b="0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34" name="Google Shape;934;g3a8bca059f7_0_163"/>
          <p:cNvSpPr/>
          <p:nvPr/>
        </p:nvSpPr>
        <p:spPr>
          <a:xfrm>
            <a:off x="0" y="0"/>
            <a:ext cx="140400" cy="10287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g3a8bca059f7_0_163"/>
          <p:cNvSpPr txBox="1"/>
          <p:nvPr/>
        </p:nvSpPr>
        <p:spPr>
          <a:xfrm>
            <a:off x="573950" y="381000"/>
            <a:ext cx="2655900" cy="51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NovaPay</a:t>
            </a:r>
            <a:endParaRPr b="1" sz="2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6" name="Google Shape;936;g3a8bca059f7_0_163"/>
          <p:cNvSpPr txBox="1"/>
          <p:nvPr/>
        </p:nvSpPr>
        <p:spPr>
          <a:xfrm>
            <a:off x="2571750" y="304800"/>
            <a:ext cx="6667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Detecta, Predice</a:t>
            </a:r>
            <a:r>
              <a:rPr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Protege</a:t>
            </a:r>
            <a:endParaRPr b="0" sz="1600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7" name="Google Shape;937;g3a8bca059f7_0_16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Google Shape;943;g3a8bca059f7_0_3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g3a8bca059f7_0_304"/>
          <p:cNvSpPr/>
          <p:nvPr/>
        </p:nvSpPr>
        <p:spPr>
          <a:xfrm>
            <a:off x="0" y="0"/>
            <a:ext cx="140400" cy="10287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g3a8bca059f7_0_304"/>
          <p:cNvSpPr txBox="1"/>
          <p:nvPr/>
        </p:nvSpPr>
        <p:spPr>
          <a:xfrm>
            <a:off x="573950" y="381000"/>
            <a:ext cx="2655900" cy="51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NovaPay</a:t>
            </a:r>
            <a:endParaRPr b="1" sz="2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6" name="Google Shape;946;g3a8bca059f7_0_304"/>
          <p:cNvSpPr/>
          <p:nvPr/>
        </p:nvSpPr>
        <p:spPr>
          <a:xfrm>
            <a:off x="16287750" y="381000"/>
            <a:ext cx="14289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Modelo</a:t>
            </a:r>
            <a:endParaRPr b="0" sz="14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Google Shape;947;g3a8bca059f7_0_304"/>
          <p:cNvSpPr txBox="1"/>
          <p:nvPr/>
        </p:nvSpPr>
        <p:spPr>
          <a:xfrm>
            <a:off x="762000" y="1333500"/>
            <a:ext cx="10477500" cy="95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2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Modelo y Predicción de Resultados</a:t>
            </a:r>
            <a:endParaRPr b="0" sz="620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grpSp>
        <p:nvGrpSpPr>
          <p:cNvPr id="948" name="Google Shape;948;g3a8bca059f7_0_304"/>
          <p:cNvGrpSpPr/>
          <p:nvPr/>
        </p:nvGrpSpPr>
        <p:grpSpPr>
          <a:xfrm>
            <a:off x="762000" y="3048000"/>
            <a:ext cx="16668675" cy="2857500"/>
            <a:chOff x="762000" y="3048000"/>
            <a:chExt cx="16668675" cy="2857500"/>
          </a:xfrm>
        </p:grpSpPr>
        <p:sp>
          <p:nvSpPr>
            <p:cNvPr id="949" name="Google Shape;949;g3a8bca059f7_0_304"/>
            <p:cNvSpPr/>
            <p:nvPr/>
          </p:nvSpPr>
          <p:spPr>
            <a:xfrm>
              <a:off x="762000" y="3048000"/>
              <a:ext cx="3952800" cy="28575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g3a8bca059f7_0_304"/>
            <p:cNvSpPr txBox="1"/>
            <p:nvPr/>
          </p:nvSpPr>
          <p:spPr>
            <a:xfrm>
              <a:off x="1047750" y="3333750"/>
              <a:ext cx="33813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2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0.87</a:t>
              </a:r>
              <a:endParaRPr b="1" sz="442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7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Recall fraude</a:t>
              </a:r>
              <a:endParaRPr b="1" sz="18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19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Capacidad del modelo para identificar correctamente las transacciones fraudulentas sobre el total real.</a:t>
              </a:r>
              <a:endParaRPr b="0" sz="119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5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Detecta 79 de cada 100 fraudes.</a:t>
              </a:r>
              <a:endParaRPr b="1" sz="1105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51" name="Google Shape;951;g3a8bca059f7_0_304"/>
            <p:cNvSpPr/>
            <p:nvPr/>
          </p:nvSpPr>
          <p:spPr>
            <a:xfrm>
              <a:off x="5000625" y="3048000"/>
              <a:ext cx="3952800" cy="28575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g3a8bca059f7_0_304"/>
            <p:cNvSpPr txBox="1"/>
            <p:nvPr/>
          </p:nvSpPr>
          <p:spPr>
            <a:xfrm>
              <a:off x="5286375" y="3333750"/>
              <a:ext cx="33813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2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0.97</a:t>
              </a:r>
              <a:endParaRPr b="1" sz="442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7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Precisión fraude</a:t>
              </a:r>
              <a:endParaRPr b="1" sz="18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19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Probabilidad de que una alerta emitida por el sistema sea efectivamente un caso de fraude confirmado.</a:t>
              </a:r>
              <a:endParaRPr b="0" sz="119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5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La mitad de alertas son fraude real.</a:t>
              </a:r>
              <a:endParaRPr b="1" sz="1105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53" name="Google Shape;953;g3a8bca059f7_0_304"/>
            <p:cNvSpPr/>
            <p:nvPr/>
          </p:nvSpPr>
          <p:spPr>
            <a:xfrm>
              <a:off x="9239250" y="3048000"/>
              <a:ext cx="3952800" cy="28575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g3a8bca059f7_0_304"/>
            <p:cNvSpPr txBox="1"/>
            <p:nvPr/>
          </p:nvSpPr>
          <p:spPr>
            <a:xfrm>
              <a:off x="9525000" y="3333750"/>
              <a:ext cx="33813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2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0.89</a:t>
              </a:r>
              <a:endParaRPr b="1" sz="442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7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F1-score</a:t>
              </a:r>
              <a:endParaRPr b="1" sz="18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19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Media armónica que equilibra la precisión y el recall para ofrecer una métrica única de rendimiento.</a:t>
              </a:r>
              <a:endParaRPr b="0" sz="119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5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Equilibrio entre precisión y recall.</a:t>
              </a:r>
              <a:endParaRPr b="1" sz="1105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55" name="Google Shape;955;g3a8bca059f7_0_304"/>
            <p:cNvSpPr/>
            <p:nvPr/>
          </p:nvSpPr>
          <p:spPr>
            <a:xfrm>
              <a:off x="13477875" y="3048000"/>
              <a:ext cx="3952800" cy="2857500"/>
            </a:xfrm>
            <a:prstGeom prst="roundRect">
              <a:avLst>
                <a:gd fmla="val 5333" name="adj"/>
              </a:avLst>
            </a:prstGeom>
            <a:solidFill>
              <a:srgbClr val="1E293B"/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g3a8bca059f7_0_304"/>
            <p:cNvSpPr txBox="1"/>
            <p:nvPr/>
          </p:nvSpPr>
          <p:spPr>
            <a:xfrm>
              <a:off x="13763625" y="3333750"/>
              <a:ext cx="33813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20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0.99</a:t>
              </a:r>
              <a:endParaRPr b="1" sz="442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7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ROC-AUC</a:t>
              </a:r>
              <a:endParaRPr b="1" sz="18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19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Capacidad del modelo para distinguir entre clases positivas (fraude) y negativas (legítimo).</a:t>
              </a:r>
              <a:endParaRPr b="0" sz="119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5">
                  <a:solidFill>
                    <a:srgbClr val="A855F7"/>
                  </a:solidFill>
                  <a:latin typeface="Inter"/>
                  <a:ea typeface="Inter"/>
                  <a:cs typeface="Inter"/>
                  <a:sym typeface="Inter"/>
                </a:rPr>
                <a:t>Alta separación entre clases.</a:t>
              </a:r>
              <a:endParaRPr b="1" sz="1105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57" name="Google Shape;957;g3a8bca059f7_0_304"/>
          <p:cNvSpPr txBox="1"/>
          <p:nvPr/>
        </p:nvSpPr>
        <p:spPr>
          <a:xfrm>
            <a:off x="2588876" y="304800"/>
            <a:ext cx="6704100" cy="65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Detecta, Predic</a:t>
            </a:r>
            <a:r>
              <a:rPr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b="0"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, Prote</a:t>
            </a:r>
            <a:r>
              <a:rPr lang="en-US" sz="160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ge</a:t>
            </a:r>
            <a:endParaRPr b="0" sz="1600">
              <a:solidFill>
                <a:srgbClr val="A855F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58" name="Google Shape;958;g3a8bca059f7_0_304"/>
          <p:cNvGrpSpPr/>
          <p:nvPr/>
        </p:nvGrpSpPr>
        <p:grpSpPr>
          <a:xfrm>
            <a:off x="762000" y="6477000"/>
            <a:ext cx="16764000" cy="1714500"/>
            <a:chOff x="762000" y="6477000"/>
            <a:chExt cx="16764000" cy="1714500"/>
          </a:xfrm>
        </p:grpSpPr>
        <p:sp>
          <p:nvSpPr>
            <p:cNvPr id="959" name="Google Shape;959;g3a8bca059f7_0_304"/>
            <p:cNvSpPr/>
            <p:nvPr/>
          </p:nvSpPr>
          <p:spPr>
            <a:xfrm>
              <a:off x="762000" y="6477000"/>
              <a:ext cx="16764000" cy="1714500"/>
            </a:xfrm>
            <a:prstGeom prst="roundRect">
              <a:avLst>
                <a:gd fmla="val 8888" name="adj"/>
              </a:avLst>
            </a:prstGeom>
            <a:solidFill>
              <a:srgbClr val="1E1B4B"/>
            </a:solidFill>
            <a:ln cap="flat" cmpd="sng" w="19050">
              <a:solidFill>
                <a:srgbClr val="4338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g3a8bca059f7_0_304"/>
            <p:cNvSpPr txBox="1"/>
            <p:nvPr/>
          </p:nvSpPr>
          <p:spPr>
            <a:xfrm>
              <a:off x="1143000" y="6667500"/>
              <a:ext cx="16002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ACC1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r>
                <a:rPr b="1" lang="en-US" sz="2400">
                  <a:solidFill>
                    <a:srgbClr val="FACC15"/>
                  </a:solidFill>
                  <a:latin typeface="Inter"/>
                  <a:ea typeface="Inter"/>
                  <a:cs typeface="Inter"/>
                  <a:sym typeface="Inter"/>
                </a:rPr>
                <a:t>Resumen de Rendimiento</a:t>
              </a:r>
              <a:endParaRPr b="1" sz="2400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El modelo XGBoost demuestra una robustez excepcional con un AUC de 0.99, asegurando que NovaPay identifique patrones de fraude con una precisión líder en la industria y un mínimo de falsos negativos.</a:t>
              </a:r>
              <a:endParaRPr b="0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61" name="Google Shape;961;g3a8bca059f7_0_30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